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8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E66D36">
              <a:alpha val="12000"/>
            </a:srgbClr>
          </a:solidFill>
          <a:ln/>
        </p:spPr>
      </p:sp>
      <p:sp>
        <p:nvSpPr>
          <p:cNvPr id="3" name="Shape 1"/>
          <p:cNvSpPr/>
          <p:nvPr/>
        </p:nvSpPr>
        <p:spPr>
          <a:xfrm>
            <a:off x="-1280160" y="3291840"/>
            <a:ext cx="3108960" cy="3108960"/>
          </a:xfrm>
          <a:prstGeom prst="ellipse">
            <a:avLst/>
          </a:prstGeom>
          <a:solidFill>
            <a:srgbClr val="E66D36">
              <a:alpha val="10000"/>
            </a:srgbClr>
          </a:solidFill>
          <a:ln/>
        </p:spPr>
      </p:sp>
      <p:sp>
        <p:nvSpPr>
          <p:cNvPr id="4" name="Text 2"/>
          <p:cNvSpPr txBox="1"/>
          <p:nvPr/>
        </p:nvSpPr>
        <p:spPr>
          <a:xfrm>
            <a:off x="822960" y="1371600"/>
            <a:ext cx="7315200" cy="320040"/>
          </a:xfrm>
          <a:prstGeom prst="rect">
            <a:avLst/>
          </a:prstGeom>
          <a:noFill/>
          <a:ln/>
        </p:spPr>
        <p:txBody>
          <a:bodyPr wrap="square" lIns="0" tIns="0" rIns="0" bIns="0" rtlCol="0" anchor="ctr"/>
          <a:lstStyle/>
          <a:p>
            <a:pPr indent="0" marL="0">
              <a:buNone/>
            </a:pPr>
            <a:r>
              <a:rPr lang="en-US" sz="1200" b="1" spc="300" kern="0" dirty="0">
                <a:solidFill>
                  <a:srgbClr val="E66D36"/>
                </a:solidFill>
                <a:latin typeface="Calibri" pitchFamily="34" charset="0"/>
                <a:ea typeface="Calibri" pitchFamily="34" charset="-122"/>
                <a:cs typeface="Calibri" pitchFamily="34" charset="-120"/>
              </a:rPr>
              <a:t>ЖОБАНЫ ҚОРҒАУ ПРЕЗЕНТАЦИЯСЫ</a:t>
            </a:r>
            <a:endParaRPr lang="en-US" sz="1200" dirty="0"/>
          </a:p>
        </p:txBody>
      </p:sp>
      <p:sp>
        <p:nvSpPr>
          <p:cNvPr id="5" name="Text 3"/>
          <p:cNvSpPr txBox="1"/>
          <p:nvPr/>
        </p:nvSpPr>
        <p:spPr>
          <a:xfrm>
            <a:off x="822960" y="1737360"/>
            <a:ext cx="7498080" cy="11887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EKT Assistant</a:t>
            </a:r>
            <a:endParaRPr lang="en-US" sz="5400" dirty="0"/>
          </a:p>
        </p:txBody>
      </p:sp>
      <p:sp>
        <p:nvSpPr>
          <p:cNvPr id="6" name="Text 4"/>
          <p:cNvSpPr txBox="1"/>
          <p:nvPr/>
        </p:nvSpPr>
        <p:spPr>
          <a:xfrm>
            <a:off x="822960" y="2880360"/>
            <a:ext cx="7132320" cy="548640"/>
          </a:xfrm>
          <a:prstGeom prst="rect">
            <a:avLst/>
          </a:prstGeom>
          <a:noFill/>
          <a:ln/>
        </p:spPr>
        <p:txBody>
          <a:bodyPr wrap="square" lIns="0" tIns="0" rIns="0" bIns="0" rtlCol="0" anchor="ctr"/>
          <a:lstStyle/>
          <a:p>
            <a:pPr indent="0" marL="0">
              <a:buNone/>
            </a:pPr>
            <a:r>
              <a:rPr lang="en-US" sz="1800" dirty="0">
                <a:solidFill>
                  <a:srgbClr val="CFD3D8"/>
                </a:solidFill>
                <a:latin typeface="Calibri" pitchFamily="34" charset="0"/>
                <a:ea typeface="Calibri" pitchFamily="34" charset="-122"/>
                <a:cs typeface="Calibri" pitchFamily="34" charset="-120"/>
              </a:rPr>
              <a:t>Электр тауарларын таңдауға арналған зияткерлік чат-көмекші</a:t>
            </a:r>
            <a:endParaRPr lang="en-US" sz="1800" dirty="0"/>
          </a:p>
        </p:txBody>
      </p:sp>
      <p:sp>
        <p:nvSpPr>
          <p:cNvPr id="7" name="Shape 5"/>
          <p:cNvSpPr/>
          <p:nvPr/>
        </p:nvSpPr>
        <p:spPr>
          <a:xfrm>
            <a:off x="822960" y="3794760"/>
            <a:ext cx="1005840" cy="41148"/>
          </a:xfrm>
          <a:prstGeom prst="rect">
            <a:avLst/>
          </a:prstGeom>
          <a:solidFill>
            <a:srgbClr val="E66D36"/>
          </a:solidFill>
          <a:ln/>
        </p:spPr>
      </p:sp>
      <p:sp>
        <p:nvSpPr>
          <p:cNvPr id="8" name="Text 6"/>
          <p:cNvSpPr txBox="1"/>
          <p:nvPr/>
        </p:nvSpPr>
        <p:spPr>
          <a:xfrm>
            <a:off x="822960" y="3977640"/>
            <a:ext cx="7315200" cy="365760"/>
          </a:xfrm>
          <a:prstGeom prst="rect">
            <a:avLst/>
          </a:prstGeom>
          <a:noFill/>
          <a:ln/>
        </p:spPr>
        <p:txBody>
          <a:bodyPr wrap="square" lIns="0" tIns="0" rIns="0" bIns="0" rtlCol="0" anchor="ctr"/>
          <a:lstStyle/>
          <a:p>
            <a:pPr indent="0" marL="0">
              <a:buNone/>
            </a:pPr>
            <a:r>
              <a:rPr lang="en-US" sz="1250" dirty="0">
                <a:solidFill>
                  <a:srgbClr val="888D94"/>
                </a:solidFill>
                <a:latin typeface="Calibri" pitchFamily="34" charset="0"/>
                <a:ea typeface="Calibri" pitchFamily="34" charset="-122"/>
                <a:cs typeface="Calibri" pitchFamily="34" charset="-120"/>
              </a:rPr>
              <a:t>Сұрауды өңдеу  •  Баламаны ұсыну  •  Тілдерді ажырату  •  Себетке қосу</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EKT ASSISTANT</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Жобаның жалпы сипаттамасы</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Text 3"/>
          <p:cNvSpPr txBox="1"/>
          <p:nvPr/>
        </p:nvSpPr>
        <p:spPr>
          <a:xfrm>
            <a:off x="548640" y="1600200"/>
            <a:ext cx="5029200" cy="2194560"/>
          </a:xfrm>
          <a:prstGeom prst="rect">
            <a:avLst/>
          </a:prstGeom>
          <a:noFill/>
          <a:ln/>
        </p:spPr>
        <p:txBody>
          <a:bodyPr wrap="square" lIns="0" tIns="0" rIns="0" bIns="0" rtlCol="0" anchor="ctr"/>
          <a:lstStyle/>
          <a:p>
            <a:pPr indent="0" marL="0">
              <a:lnSpc>
                <a:spcPct val="125000"/>
              </a:lnSpc>
              <a:buNone/>
            </a:pPr>
            <a:r>
              <a:rPr lang="en-US" sz="1450" dirty="0">
                <a:solidFill>
                  <a:srgbClr val="25282B"/>
                </a:solidFill>
                <a:latin typeface="Calibri" pitchFamily="34" charset="0"/>
                <a:ea typeface="Calibri" pitchFamily="34" charset="-122"/>
                <a:cs typeface="Calibri" pitchFamily="34" charset="-120"/>
              </a:rPr>
              <a:t>EKT Assistant — пайдаланушының сұрауын өңдейтін, тауар туралы ақпарат беретін және қажет болған жағдайда балама нұсқаларды ұсынатын электрондық сауда көмекшісі. Ол таңдалған тауардың қолжетімділігін ескереді, қажетті санды нақтылайды және себетке қосуға қатысты сұрауларды түсінеді.</a:t>
            </a:r>
            <a:endParaRPr lang="en-US" sz="1450" dirty="0"/>
          </a:p>
        </p:txBody>
      </p:sp>
      <p:sp>
        <p:nvSpPr>
          <p:cNvPr id="6" name="Shape 4"/>
          <p:cNvSpPr/>
          <p:nvPr/>
        </p:nvSpPr>
        <p:spPr>
          <a:xfrm>
            <a:off x="5806440" y="1691640"/>
            <a:ext cx="2788920" cy="868680"/>
          </a:xfrm>
          <a:prstGeom prst="roundRect">
            <a:avLst>
              <a:gd name="adj" fmla="val 8421"/>
            </a:avLst>
          </a:prstGeom>
          <a:solidFill>
            <a:srgbClr val="FFFFFF"/>
          </a:solidFill>
          <a:ln w="12700">
            <a:solidFill>
              <a:srgbClr val="E8E9EB"/>
            </a:solidFill>
            <a:prstDash val="solid"/>
          </a:ln>
        </p:spPr>
      </p:sp>
      <p:sp>
        <p:nvSpPr>
          <p:cNvPr id="7" name="Shape 5"/>
          <p:cNvSpPr/>
          <p:nvPr/>
        </p:nvSpPr>
        <p:spPr>
          <a:xfrm>
            <a:off x="5989320" y="1929384"/>
            <a:ext cx="402336" cy="402336"/>
          </a:xfrm>
          <a:prstGeom prst="ellipse">
            <a:avLst/>
          </a:prstGeom>
          <a:solidFill>
            <a:srgbClr val="E66D36"/>
          </a:solidFill>
          <a:ln/>
        </p:spPr>
      </p:sp>
      <p:sp>
        <p:nvSpPr>
          <p:cNvPr id="8" name="Text 6"/>
          <p:cNvSpPr txBox="1"/>
          <p:nvPr/>
        </p:nvSpPr>
        <p:spPr>
          <a:xfrm>
            <a:off x="598932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JS</a:t>
            </a:r>
            <a:endParaRPr lang="en-US" sz="1400" dirty="0"/>
          </a:p>
        </p:txBody>
      </p:sp>
      <p:sp>
        <p:nvSpPr>
          <p:cNvPr id="9" name="Text 7"/>
          <p:cNvSpPr txBox="1"/>
          <p:nvPr/>
        </p:nvSpPr>
        <p:spPr>
          <a:xfrm>
            <a:off x="6492240" y="1764792"/>
            <a:ext cx="1965960" cy="731520"/>
          </a:xfrm>
          <a:prstGeom prst="rect">
            <a:avLst/>
          </a:prstGeom>
          <a:noFill/>
          <a:ln/>
        </p:spPr>
        <p:txBody>
          <a:bodyPr wrap="square" lIns="0" tIns="0" rIns="0" bIns="0" rtlCol="0" anchor="ctr"/>
          <a:lstStyle/>
          <a:p>
            <a:pPr indent="0" marL="0">
              <a:buNone/>
            </a:pPr>
            <a:r>
              <a:rPr lang="en-US" sz="1050" dirty="0">
                <a:solidFill>
                  <a:srgbClr val="25282B"/>
                </a:solidFill>
                <a:latin typeface="Calibri" pitchFamily="34" charset="0"/>
                <a:ea typeface="Calibri" pitchFamily="34" charset="-122"/>
                <a:cs typeface="Calibri" pitchFamily="34" charset="-120"/>
              </a:rPr>
              <a:t>JavaScript — жауап беру логикасын толық басқарады</a:t>
            </a:r>
            <a:endParaRPr lang="en-US" sz="1050" dirty="0"/>
          </a:p>
        </p:txBody>
      </p:sp>
      <p:sp>
        <p:nvSpPr>
          <p:cNvPr id="10" name="Shape 8"/>
          <p:cNvSpPr/>
          <p:nvPr/>
        </p:nvSpPr>
        <p:spPr>
          <a:xfrm>
            <a:off x="5806440" y="2715768"/>
            <a:ext cx="2788920" cy="868680"/>
          </a:xfrm>
          <a:prstGeom prst="roundRect">
            <a:avLst>
              <a:gd name="adj" fmla="val 8421"/>
            </a:avLst>
          </a:prstGeom>
          <a:solidFill>
            <a:srgbClr val="FFFFFF"/>
          </a:solidFill>
          <a:ln w="12700">
            <a:solidFill>
              <a:srgbClr val="E8E9EB"/>
            </a:solidFill>
            <a:prstDash val="solid"/>
          </a:ln>
        </p:spPr>
      </p:sp>
      <p:sp>
        <p:nvSpPr>
          <p:cNvPr id="11" name="Shape 9"/>
          <p:cNvSpPr/>
          <p:nvPr/>
        </p:nvSpPr>
        <p:spPr>
          <a:xfrm>
            <a:off x="5989320" y="2953512"/>
            <a:ext cx="402336" cy="402336"/>
          </a:xfrm>
          <a:prstGeom prst="ellipse">
            <a:avLst/>
          </a:prstGeom>
          <a:solidFill>
            <a:srgbClr val="829BD0"/>
          </a:solidFill>
          <a:ln/>
        </p:spPr>
      </p:sp>
      <p:sp>
        <p:nvSpPr>
          <p:cNvPr id="12" name="Text 10"/>
          <p:cNvSpPr txBox="1"/>
          <p:nvPr/>
        </p:nvSpPr>
        <p:spPr>
          <a:xfrm>
            <a:off x="598932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t>
            </a:r>
            <a:endParaRPr lang="en-US" sz="1400" dirty="0"/>
          </a:p>
        </p:txBody>
      </p:sp>
      <p:sp>
        <p:nvSpPr>
          <p:cNvPr id="13" name="Text 11"/>
          <p:cNvSpPr txBox="1"/>
          <p:nvPr/>
        </p:nvSpPr>
        <p:spPr>
          <a:xfrm>
            <a:off x="6492240" y="2788920"/>
            <a:ext cx="1965960" cy="731520"/>
          </a:xfrm>
          <a:prstGeom prst="rect">
            <a:avLst/>
          </a:prstGeom>
          <a:noFill/>
          <a:ln/>
        </p:spPr>
        <p:txBody>
          <a:bodyPr wrap="square" lIns="0" tIns="0" rIns="0" bIns="0" rtlCol="0" anchor="ctr"/>
          <a:lstStyle/>
          <a:p>
            <a:pPr indent="0" marL="0">
              <a:buNone/>
            </a:pPr>
            <a:r>
              <a:rPr lang="en-US" sz="1050" dirty="0">
                <a:solidFill>
                  <a:srgbClr val="25282B"/>
                </a:solidFill>
                <a:latin typeface="Calibri" pitchFamily="34" charset="0"/>
                <a:ea typeface="Calibri" pitchFamily="34" charset="-122"/>
                <a:cs typeface="Calibri" pitchFamily="34" charset="-120"/>
              </a:rPr>
              <a:t>Интерфейстің құрылымын қалыптастырады</a:t>
            </a:r>
            <a:endParaRPr lang="en-US" sz="1050" dirty="0"/>
          </a:p>
        </p:txBody>
      </p:sp>
      <p:sp>
        <p:nvSpPr>
          <p:cNvPr id="14" name="Shape 12"/>
          <p:cNvSpPr/>
          <p:nvPr/>
        </p:nvSpPr>
        <p:spPr>
          <a:xfrm>
            <a:off x="5806440" y="3739896"/>
            <a:ext cx="2788920" cy="868680"/>
          </a:xfrm>
          <a:prstGeom prst="roundRect">
            <a:avLst>
              <a:gd name="adj" fmla="val 8421"/>
            </a:avLst>
          </a:prstGeom>
          <a:solidFill>
            <a:srgbClr val="FFFFFF"/>
          </a:solidFill>
          <a:ln w="12700">
            <a:solidFill>
              <a:srgbClr val="E8E9EB"/>
            </a:solidFill>
            <a:prstDash val="solid"/>
          </a:ln>
        </p:spPr>
      </p:sp>
      <p:sp>
        <p:nvSpPr>
          <p:cNvPr id="15" name="Shape 13"/>
          <p:cNvSpPr/>
          <p:nvPr/>
        </p:nvSpPr>
        <p:spPr>
          <a:xfrm>
            <a:off x="5989320" y="3977640"/>
            <a:ext cx="402336" cy="402336"/>
          </a:xfrm>
          <a:prstGeom prst="ellipse">
            <a:avLst/>
          </a:prstGeom>
          <a:solidFill>
            <a:srgbClr val="A392C8"/>
          </a:solidFill>
          <a:ln/>
        </p:spPr>
      </p:sp>
      <p:sp>
        <p:nvSpPr>
          <p:cNvPr id="16" name="Text 14"/>
          <p:cNvSpPr txBox="1"/>
          <p:nvPr/>
        </p:nvSpPr>
        <p:spPr>
          <a:xfrm>
            <a:off x="5989320" y="39776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txBox="1"/>
          <p:nvPr/>
        </p:nvSpPr>
        <p:spPr>
          <a:xfrm>
            <a:off x="6492240" y="3813048"/>
            <a:ext cx="1965960" cy="731520"/>
          </a:xfrm>
          <a:prstGeom prst="rect">
            <a:avLst/>
          </a:prstGeom>
          <a:noFill/>
          <a:ln/>
        </p:spPr>
        <p:txBody>
          <a:bodyPr wrap="square" lIns="0" tIns="0" rIns="0" bIns="0" rtlCol="0" anchor="ctr"/>
          <a:lstStyle/>
          <a:p>
            <a:pPr indent="0" marL="0">
              <a:buNone/>
            </a:pPr>
            <a:r>
              <a:rPr lang="en-US" sz="1050" dirty="0">
                <a:solidFill>
                  <a:srgbClr val="25282B"/>
                </a:solidFill>
                <a:latin typeface="Calibri" pitchFamily="34" charset="0"/>
                <a:ea typeface="Calibri" pitchFamily="34" charset="-122"/>
                <a:cs typeface="Calibri" pitchFamily="34" charset="-120"/>
              </a:rPr>
              <a:t>Түстерді, қаріптерді және экранға бейімделуді анықтайды</a:t>
            </a:r>
            <a:endParaRPr lang="en-US" sz="1050" dirty="0"/>
          </a:p>
        </p:txBody>
      </p:sp>
      <p:sp>
        <p:nvSpPr>
          <p:cNvPr id="18" name="Text 16"/>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EKT ASSISTANT</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Мақсаты мен өзектілігі</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691640"/>
            <a:ext cx="402336" cy="402336"/>
          </a:xfrm>
          <a:prstGeom prst="ellipse">
            <a:avLst/>
          </a:prstGeom>
          <a:solidFill>
            <a:srgbClr val="E66D36"/>
          </a:solidFill>
          <a:ln/>
        </p:spPr>
      </p:sp>
      <p:sp>
        <p:nvSpPr>
          <p:cNvPr id="6" name="Text 4"/>
          <p:cNvSpPr txBox="1"/>
          <p:nvPr/>
        </p:nvSpPr>
        <p:spPr>
          <a:xfrm>
            <a:off x="548640" y="16916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43000" y="1645920"/>
            <a:ext cx="7406640" cy="548640"/>
          </a:xfrm>
          <a:prstGeom prst="rect">
            <a:avLst/>
          </a:prstGeom>
          <a:noFill/>
          <a:ln/>
        </p:spPr>
        <p:txBody>
          <a:bodyPr wrap="square" lIns="0" tIns="0" rIns="0" bIns="0" rtlCol="0" anchor="ctr"/>
          <a:lstStyle/>
          <a:p>
            <a:pPr indent="0" marL="0">
              <a:buNone/>
            </a:pPr>
            <a:r>
              <a:rPr lang="en-US" sz="1450" dirty="0">
                <a:solidFill>
                  <a:srgbClr val="25282B"/>
                </a:solidFill>
                <a:latin typeface="Calibri" pitchFamily="34" charset="0"/>
                <a:ea typeface="Calibri" pitchFamily="34" charset="-122"/>
                <a:cs typeface="Calibri" pitchFamily="34" charset="-120"/>
              </a:rPr>
              <a:t>Тұтынушыға тауарды өз бетінше, жылдам әрі нақты ақпарат негізінде таңдауға көмектесу</a:t>
            </a:r>
            <a:endParaRPr lang="en-US" sz="1450" dirty="0"/>
          </a:p>
        </p:txBody>
      </p:sp>
      <p:sp>
        <p:nvSpPr>
          <p:cNvPr id="8" name="Shape 6"/>
          <p:cNvSpPr/>
          <p:nvPr/>
        </p:nvSpPr>
        <p:spPr>
          <a:xfrm>
            <a:off x="548640" y="2404872"/>
            <a:ext cx="402336" cy="402336"/>
          </a:xfrm>
          <a:prstGeom prst="ellipse">
            <a:avLst/>
          </a:prstGeom>
          <a:solidFill>
            <a:srgbClr val="E66D36"/>
          </a:solidFill>
          <a:ln/>
        </p:spPr>
      </p:sp>
      <p:sp>
        <p:nvSpPr>
          <p:cNvPr id="9" name="Text 7"/>
          <p:cNvSpPr txBox="1"/>
          <p:nvPr/>
        </p:nvSpPr>
        <p:spPr>
          <a:xfrm>
            <a:off x="548640" y="240487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43000" y="2359152"/>
            <a:ext cx="7406640" cy="548640"/>
          </a:xfrm>
          <a:prstGeom prst="rect">
            <a:avLst/>
          </a:prstGeom>
          <a:noFill/>
          <a:ln/>
        </p:spPr>
        <p:txBody>
          <a:bodyPr wrap="square" lIns="0" tIns="0" rIns="0" bIns="0" rtlCol="0" anchor="ctr"/>
          <a:lstStyle/>
          <a:p>
            <a:pPr indent="0" marL="0">
              <a:buNone/>
            </a:pPr>
            <a:r>
              <a:rPr lang="en-US" sz="1450" dirty="0">
                <a:solidFill>
                  <a:srgbClr val="25282B"/>
                </a:solidFill>
                <a:latin typeface="Calibri" pitchFamily="34" charset="0"/>
                <a:ea typeface="Calibri" pitchFamily="34" charset="-122"/>
                <a:cs typeface="Calibri" pitchFamily="34" charset="-120"/>
              </a:rPr>
              <a:t>Тауар қолжетімсіз болғанда сатып алушыны бос қалдырмай, лайықты баламаны ұсыну</a:t>
            </a:r>
            <a:endParaRPr lang="en-US" sz="1450" dirty="0"/>
          </a:p>
        </p:txBody>
      </p:sp>
      <p:sp>
        <p:nvSpPr>
          <p:cNvPr id="11" name="Shape 9"/>
          <p:cNvSpPr/>
          <p:nvPr/>
        </p:nvSpPr>
        <p:spPr>
          <a:xfrm>
            <a:off x="548640" y="3118104"/>
            <a:ext cx="402336" cy="402336"/>
          </a:xfrm>
          <a:prstGeom prst="ellipse">
            <a:avLst/>
          </a:prstGeom>
          <a:solidFill>
            <a:srgbClr val="E66D36"/>
          </a:solidFill>
          <a:ln/>
        </p:spPr>
      </p:sp>
      <p:sp>
        <p:nvSpPr>
          <p:cNvPr id="12" name="Text 10"/>
          <p:cNvSpPr txBox="1"/>
          <p:nvPr/>
        </p:nvSpPr>
        <p:spPr>
          <a:xfrm>
            <a:off x="548640" y="3118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43000" y="3072384"/>
            <a:ext cx="7406640" cy="548640"/>
          </a:xfrm>
          <a:prstGeom prst="rect">
            <a:avLst/>
          </a:prstGeom>
          <a:noFill/>
          <a:ln/>
        </p:spPr>
        <p:txBody>
          <a:bodyPr wrap="square" lIns="0" tIns="0" rIns="0" bIns="0" rtlCol="0" anchor="ctr"/>
          <a:lstStyle/>
          <a:p>
            <a:pPr indent="0" marL="0">
              <a:buNone/>
            </a:pPr>
            <a:r>
              <a:rPr lang="en-US" sz="1450" dirty="0">
                <a:solidFill>
                  <a:srgbClr val="25282B"/>
                </a:solidFill>
                <a:latin typeface="Calibri" pitchFamily="34" charset="0"/>
                <a:ea typeface="Calibri" pitchFamily="34" charset="-122"/>
                <a:cs typeface="Calibri" pitchFamily="34" charset="-120"/>
              </a:rPr>
              <a:t>Себетке қосу процесін диалог арқылы қарапайым әрі түсінікті ету</a:t>
            </a:r>
            <a:endParaRPr lang="en-US" sz="1450" dirty="0"/>
          </a:p>
        </p:txBody>
      </p:sp>
      <p:sp>
        <p:nvSpPr>
          <p:cNvPr id="14" name="Shape 12"/>
          <p:cNvSpPr/>
          <p:nvPr/>
        </p:nvSpPr>
        <p:spPr>
          <a:xfrm>
            <a:off x="548640" y="3831336"/>
            <a:ext cx="402336" cy="402336"/>
          </a:xfrm>
          <a:prstGeom prst="ellipse">
            <a:avLst/>
          </a:prstGeom>
          <a:solidFill>
            <a:srgbClr val="E66D36"/>
          </a:solidFill>
          <a:ln/>
        </p:spPr>
      </p:sp>
      <p:sp>
        <p:nvSpPr>
          <p:cNvPr id="15" name="Text 13"/>
          <p:cNvSpPr txBox="1"/>
          <p:nvPr/>
        </p:nvSpPr>
        <p:spPr>
          <a:xfrm>
            <a:off x="548640" y="3831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143000" y="3785616"/>
            <a:ext cx="7406640" cy="548640"/>
          </a:xfrm>
          <a:prstGeom prst="rect">
            <a:avLst/>
          </a:prstGeom>
          <a:noFill/>
          <a:ln/>
        </p:spPr>
        <p:txBody>
          <a:bodyPr wrap="square" lIns="0" tIns="0" rIns="0" bIns="0" rtlCol="0" anchor="ctr"/>
          <a:lstStyle/>
          <a:p>
            <a:pPr indent="0" marL="0">
              <a:buNone/>
            </a:pPr>
            <a:r>
              <a:rPr lang="en-US" sz="1450" dirty="0">
                <a:solidFill>
                  <a:srgbClr val="25282B"/>
                </a:solidFill>
                <a:latin typeface="Calibri" pitchFamily="34" charset="0"/>
                <a:ea typeface="Calibri" pitchFamily="34" charset="-122"/>
                <a:cs typeface="Calibri" pitchFamily="34" charset="-120"/>
              </a:rPr>
              <a:t>Деректердегі қайшылық пен демо-сипатты ашық көрсетіп, сенімділікті арттыру</a:t>
            </a:r>
            <a:endParaRPr lang="en-US" sz="1450" dirty="0"/>
          </a:p>
        </p:txBody>
      </p:sp>
      <p:sp>
        <p:nvSpPr>
          <p:cNvPr id="17" name="Text 15"/>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EKT ASSISTANT</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Сайттың негізгі міндеттері</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600200"/>
            <a:ext cx="3794760" cy="1417320"/>
          </a:xfrm>
          <a:prstGeom prst="roundRect">
            <a:avLst>
              <a:gd name="adj" fmla="val 5161"/>
            </a:avLst>
          </a:prstGeom>
          <a:solidFill>
            <a:srgbClr val="FFFFFF"/>
          </a:solidFill>
          <a:ln w="12700">
            <a:solidFill>
              <a:srgbClr val="E8E9EB"/>
            </a:solidFill>
            <a:prstDash val="solid"/>
          </a:ln>
        </p:spPr>
      </p:sp>
      <p:sp>
        <p:nvSpPr>
          <p:cNvPr id="6" name="Shape 4"/>
          <p:cNvSpPr/>
          <p:nvPr/>
        </p:nvSpPr>
        <p:spPr>
          <a:xfrm>
            <a:off x="777240" y="1828800"/>
            <a:ext cx="402336" cy="402336"/>
          </a:xfrm>
          <a:prstGeom prst="ellipse">
            <a:avLst/>
          </a:prstGeom>
          <a:solidFill>
            <a:srgbClr val="D7885D"/>
          </a:solidFill>
          <a:ln/>
        </p:spPr>
      </p:sp>
      <p:sp>
        <p:nvSpPr>
          <p:cNvPr id="7" name="Text 5"/>
          <p:cNvSpPr txBox="1"/>
          <p:nvPr/>
        </p:nvSpPr>
        <p:spPr>
          <a:xfrm>
            <a:off x="777240" y="18288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25880" y="1783080"/>
            <a:ext cx="2788920" cy="320040"/>
          </a:xfrm>
          <a:prstGeom prst="rect">
            <a:avLst/>
          </a:prstGeom>
          <a:noFill/>
          <a:ln/>
        </p:spPr>
        <p:txBody>
          <a:bodyPr wrap="square" lIns="0" tIns="0" rIns="0" bIns="0" rtlCol="0" anchor="ctr"/>
          <a:lstStyle/>
          <a:p>
            <a:pPr indent="0" marL="0">
              <a:buNone/>
            </a:pPr>
            <a:r>
              <a:rPr lang="en-US" sz="1500" b="1" dirty="0">
                <a:solidFill>
                  <a:srgbClr val="25282B"/>
                </a:solidFill>
                <a:latin typeface="Cambria" pitchFamily="34" charset="0"/>
                <a:ea typeface="Cambria" pitchFamily="34" charset="-122"/>
                <a:cs typeface="Cambria" pitchFamily="34" charset="-120"/>
              </a:rPr>
              <a:t>Сұрауды өңдеу</a:t>
            </a:r>
            <a:endParaRPr lang="en-US" sz="1500" dirty="0"/>
          </a:p>
        </p:txBody>
      </p:sp>
      <p:sp>
        <p:nvSpPr>
          <p:cNvPr id="9" name="Text 7"/>
          <p:cNvSpPr txBox="1"/>
          <p:nvPr/>
        </p:nvSpPr>
        <p:spPr>
          <a:xfrm>
            <a:off x="777240" y="2221992"/>
            <a:ext cx="3337560" cy="685800"/>
          </a:xfrm>
          <a:prstGeom prst="rect">
            <a:avLst/>
          </a:prstGeom>
          <a:noFill/>
          <a:ln/>
        </p:spPr>
        <p:txBody>
          <a:bodyPr wrap="square" lIns="0" tIns="0" rIns="0" bIns="0" rtlCol="0" anchor="ctr"/>
          <a:lstStyle/>
          <a:p>
            <a:pPr indent="0" marL="0">
              <a:buNone/>
            </a:pPr>
            <a:r>
              <a:rPr lang="en-US" sz="1150" dirty="0">
                <a:solidFill>
                  <a:srgbClr val="888D94"/>
                </a:solidFill>
                <a:latin typeface="Calibri" pitchFamily="34" charset="0"/>
                <a:ea typeface="Calibri" pitchFamily="34" charset="-122"/>
                <a:cs typeface="Calibri" pitchFamily="34" charset="-120"/>
              </a:rPr>
              <a:t>Пайдаланушы мәтінін талдап, тиісті жауап тармағын анықтау</a:t>
            </a:r>
            <a:endParaRPr lang="en-US" sz="1150" dirty="0"/>
          </a:p>
        </p:txBody>
      </p:sp>
      <p:sp>
        <p:nvSpPr>
          <p:cNvPr id="10" name="Shape 8"/>
          <p:cNvSpPr/>
          <p:nvPr/>
        </p:nvSpPr>
        <p:spPr>
          <a:xfrm>
            <a:off x="4617720" y="1600200"/>
            <a:ext cx="3794760" cy="1417320"/>
          </a:xfrm>
          <a:prstGeom prst="roundRect">
            <a:avLst>
              <a:gd name="adj" fmla="val 5161"/>
            </a:avLst>
          </a:prstGeom>
          <a:solidFill>
            <a:srgbClr val="FFFFFF"/>
          </a:solidFill>
          <a:ln w="12700">
            <a:solidFill>
              <a:srgbClr val="E8E9EB"/>
            </a:solidFill>
            <a:prstDash val="solid"/>
          </a:ln>
        </p:spPr>
      </p:sp>
      <p:sp>
        <p:nvSpPr>
          <p:cNvPr id="11" name="Shape 9"/>
          <p:cNvSpPr/>
          <p:nvPr/>
        </p:nvSpPr>
        <p:spPr>
          <a:xfrm>
            <a:off x="4846320" y="1828800"/>
            <a:ext cx="402336" cy="402336"/>
          </a:xfrm>
          <a:prstGeom prst="ellipse">
            <a:avLst/>
          </a:prstGeom>
          <a:solidFill>
            <a:srgbClr val="829BD0"/>
          </a:solidFill>
          <a:ln/>
        </p:spPr>
      </p:sp>
      <p:sp>
        <p:nvSpPr>
          <p:cNvPr id="12" name="Text 10"/>
          <p:cNvSpPr txBox="1"/>
          <p:nvPr/>
        </p:nvSpPr>
        <p:spPr>
          <a:xfrm>
            <a:off x="4846320" y="18288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5394960" y="1783080"/>
            <a:ext cx="2788920" cy="320040"/>
          </a:xfrm>
          <a:prstGeom prst="rect">
            <a:avLst/>
          </a:prstGeom>
          <a:noFill/>
          <a:ln/>
        </p:spPr>
        <p:txBody>
          <a:bodyPr wrap="square" lIns="0" tIns="0" rIns="0" bIns="0" rtlCol="0" anchor="ctr"/>
          <a:lstStyle/>
          <a:p>
            <a:pPr indent="0" marL="0">
              <a:buNone/>
            </a:pPr>
            <a:r>
              <a:rPr lang="en-US" sz="1500" b="1" dirty="0">
                <a:solidFill>
                  <a:srgbClr val="25282B"/>
                </a:solidFill>
                <a:latin typeface="Cambria" pitchFamily="34" charset="0"/>
                <a:ea typeface="Cambria" pitchFamily="34" charset="-122"/>
                <a:cs typeface="Cambria" pitchFamily="34" charset="-120"/>
              </a:rPr>
              <a:t>Балама таңдау</a:t>
            </a:r>
            <a:endParaRPr lang="en-US" sz="1500" dirty="0"/>
          </a:p>
        </p:txBody>
      </p:sp>
      <p:sp>
        <p:nvSpPr>
          <p:cNvPr id="14" name="Text 12"/>
          <p:cNvSpPr txBox="1"/>
          <p:nvPr/>
        </p:nvSpPr>
        <p:spPr>
          <a:xfrm>
            <a:off x="4846320" y="2221992"/>
            <a:ext cx="3337560" cy="685800"/>
          </a:xfrm>
          <a:prstGeom prst="rect">
            <a:avLst/>
          </a:prstGeom>
          <a:noFill/>
          <a:ln/>
        </p:spPr>
        <p:txBody>
          <a:bodyPr wrap="square" lIns="0" tIns="0" rIns="0" bIns="0" rtlCol="0" anchor="ctr"/>
          <a:lstStyle/>
          <a:p>
            <a:pPr indent="0" marL="0">
              <a:buNone/>
            </a:pPr>
            <a:r>
              <a:rPr lang="en-US" sz="1150" dirty="0">
                <a:solidFill>
                  <a:srgbClr val="888D94"/>
                </a:solidFill>
                <a:latin typeface="Calibri" pitchFamily="34" charset="0"/>
                <a:ea typeface="Calibri" pitchFamily="34" charset="-122"/>
                <a:cs typeface="Calibri" pitchFamily="34" charset="-120"/>
              </a:rPr>
              <a:t>Тауар қолжетімсіз болғанда немесе сұрау бойынша ұқсас нұсқа ұсыну</a:t>
            </a:r>
            <a:endParaRPr lang="en-US" sz="1150" dirty="0"/>
          </a:p>
        </p:txBody>
      </p:sp>
      <p:sp>
        <p:nvSpPr>
          <p:cNvPr id="15" name="Shape 13"/>
          <p:cNvSpPr/>
          <p:nvPr/>
        </p:nvSpPr>
        <p:spPr>
          <a:xfrm>
            <a:off x="548640" y="3291840"/>
            <a:ext cx="3794760" cy="1417320"/>
          </a:xfrm>
          <a:prstGeom prst="roundRect">
            <a:avLst>
              <a:gd name="adj" fmla="val 5161"/>
            </a:avLst>
          </a:prstGeom>
          <a:solidFill>
            <a:srgbClr val="FFFFFF"/>
          </a:solidFill>
          <a:ln w="12700">
            <a:solidFill>
              <a:srgbClr val="E8E9EB"/>
            </a:solidFill>
            <a:prstDash val="solid"/>
          </a:ln>
        </p:spPr>
      </p:sp>
      <p:sp>
        <p:nvSpPr>
          <p:cNvPr id="16" name="Shape 14"/>
          <p:cNvSpPr/>
          <p:nvPr/>
        </p:nvSpPr>
        <p:spPr>
          <a:xfrm>
            <a:off x="777240" y="3520440"/>
            <a:ext cx="402336" cy="402336"/>
          </a:xfrm>
          <a:prstGeom prst="ellipse">
            <a:avLst/>
          </a:prstGeom>
          <a:solidFill>
            <a:srgbClr val="A392C8"/>
          </a:solidFill>
          <a:ln/>
        </p:spPr>
      </p:sp>
      <p:sp>
        <p:nvSpPr>
          <p:cNvPr id="17" name="Text 15"/>
          <p:cNvSpPr txBox="1"/>
          <p:nvPr/>
        </p:nvSpPr>
        <p:spPr>
          <a:xfrm>
            <a:off x="777240" y="35204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325880" y="3474720"/>
            <a:ext cx="2788920" cy="320040"/>
          </a:xfrm>
          <a:prstGeom prst="rect">
            <a:avLst/>
          </a:prstGeom>
          <a:noFill/>
          <a:ln/>
        </p:spPr>
        <p:txBody>
          <a:bodyPr wrap="square" lIns="0" tIns="0" rIns="0" bIns="0" rtlCol="0" anchor="ctr"/>
          <a:lstStyle/>
          <a:p>
            <a:pPr indent="0" marL="0">
              <a:buNone/>
            </a:pPr>
            <a:r>
              <a:rPr lang="en-US" sz="1500" b="1" dirty="0">
                <a:solidFill>
                  <a:srgbClr val="25282B"/>
                </a:solidFill>
                <a:latin typeface="Cambria" pitchFamily="34" charset="0"/>
                <a:ea typeface="Cambria" pitchFamily="34" charset="-122"/>
                <a:cs typeface="Cambria" pitchFamily="34" charset="-120"/>
              </a:rPr>
              <a:t>Санды нақтылау</a:t>
            </a:r>
            <a:endParaRPr lang="en-US" sz="1500" dirty="0"/>
          </a:p>
        </p:txBody>
      </p:sp>
      <p:sp>
        <p:nvSpPr>
          <p:cNvPr id="19" name="Text 17"/>
          <p:cNvSpPr txBox="1"/>
          <p:nvPr/>
        </p:nvSpPr>
        <p:spPr>
          <a:xfrm>
            <a:off x="777240" y="3913632"/>
            <a:ext cx="3337560" cy="685800"/>
          </a:xfrm>
          <a:prstGeom prst="rect">
            <a:avLst/>
          </a:prstGeom>
          <a:noFill/>
          <a:ln/>
        </p:spPr>
        <p:txBody>
          <a:bodyPr wrap="square" lIns="0" tIns="0" rIns="0" bIns="0" rtlCol="0" anchor="ctr"/>
          <a:lstStyle/>
          <a:p>
            <a:pPr indent="0" marL="0">
              <a:buNone/>
            </a:pPr>
            <a:r>
              <a:rPr lang="en-US" sz="1150" dirty="0">
                <a:solidFill>
                  <a:srgbClr val="888D94"/>
                </a:solidFill>
                <a:latin typeface="Calibri" pitchFamily="34" charset="0"/>
                <a:ea typeface="Calibri" pitchFamily="34" charset="-122"/>
                <a:cs typeface="Calibri" pitchFamily="34" charset="-120"/>
              </a:rPr>
              <a:t>Себетке қосар алдында дұрыс, оң бүтін санды растау</a:t>
            </a:r>
            <a:endParaRPr lang="en-US" sz="1150" dirty="0"/>
          </a:p>
        </p:txBody>
      </p:sp>
      <p:sp>
        <p:nvSpPr>
          <p:cNvPr id="20" name="Shape 18"/>
          <p:cNvSpPr/>
          <p:nvPr/>
        </p:nvSpPr>
        <p:spPr>
          <a:xfrm>
            <a:off x="4617720" y="3291840"/>
            <a:ext cx="3794760" cy="1417320"/>
          </a:xfrm>
          <a:prstGeom prst="roundRect">
            <a:avLst>
              <a:gd name="adj" fmla="val 5161"/>
            </a:avLst>
          </a:prstGeom>
          <a:solidFill>
            <a:srgbClr val="FFFFFF"/>
          </a:solidFill>
          <a:ln w="12700">
            <a:solidFill>
              <a:srgbClr val="E8E9EB"/>
            </a:solidFill>
            <a:prstDash val="solid"/>
          </a:ln>
        </p:spPr>
      </p:sp>
      <p:sp>
        <p:nvSpPr>
          <p:cNvPr id="21" name="Shape 19"/>
          <p:cNvSpPr/>
          <p:nvPr/>
        </p:nvSpPr>
        <p:spPr>
          <a:xfrm>
            <a:off x="4846320" y="3520440"/>
            <a:ext cx="402336" cy="402336"/>
          </a:xfrm>
          <a:prstGeom prst="ellipse">
            <a:avLst/>
          </a:prstGeom>
          <a:solidFill>
            <a:srgbClr val="7FA98E"/>
          </a:solidFill>
          <a:ln/>
        </p:spPr>
      </p:sp>
      <p:sp>
        <p:nvSpPr>
          <p:cNvPr id="22" name="Text 20"/>
          <p:cNvSpPr txBox="1"/>
          <p:nvPr/>
        </p:nvSpPr>
        <p:spPr>
          <a:xfrm>
            <a:off x="4846320" y="35204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394960" y="3474720"/>
            <a:ext cx="2788920" cy="320040"/>
          </a:xfrm>
          <a:prstGeom prst="rect">
            <a:avLst/>
          </a:prstGeom>
          <a:noFill/>
          <a:ln/>
        </p:spPr>
        <p:txBody>
          <a:bodyPr wrap="square" lIns="0" tIns="0" rIns="0" bIns="0" rtlCol="0" anchor="ctr"/>
          <a:lstStyle/>
          <a:p>
            <a:pPr indent="0" marL="0">
              <a:buNone/>
            </a:pPr>
            <a:r>
              <a:rPr lang="en-US" sz="1500" b="1" dirty="0">
                <a:solidFill>
                  <a:srgbClr val="25282B"/>
                </a:solidFill>
                <a:latin typeface="Cambria" pitchFamily="34" charset="0"/>
                <a:ea typeface="Cambria" pitchFamily="34" charset="-122"/>
                <a:cs typeface="Cambria" pitchFamily="34" charset="-120"/>
              </a:rPr>
              <a:t>Себетке қосу</a:t>
            </a:r>
            <a:endParaRPr lang="en-US" sz="1500" dirty="0"/>
          </a:p>
        </p:txBody>
      </p:sp>
      <p:sp>
        <p:nvSpPr>
          <p:cNvPr id="24" name="Text 22"/>
          <p:cNvSpPr txBox="1"/>
          <p:nvPr/>
        </p:nvSpPr>
        <p:spPr>
          <a:xfrm>
            <a:off x="4846320" y="3913632"/>
            <a:ext cx="3337560" cy="685800"/>
          </a:xfrm>
          <a:prstGeom prst="rect">
            <a:avLst/>
          </a:prstGeom>
          <a:noFill/>
          <a:ln/>
        </p:spPr>
        <p:txBody>
          <a:bodyPr wrap="square" lIns="0" tIns="0" rIns="0" bIns="0" rtlCol="0" anchor="ctr"/>
          <a:lstStyle/>
          <a:p>
            <a:pPr indent="0" marL="0">
              <a:buNone/>
            </a:pPr>
            <a:r>
              <a:rPr lang="en-US" sz="1150" dirty="0">
                <a:solidFill>
                  <a:srgbClr val="888D94"/>
                </a:solidFill>
                <a:latin typeface="Calibri" pitchFamily="34" charset="0"/>
                <a:ea typeface="Calibri" pitchFamily="34" charset="-122"/>
                <a:cs typeface="Calibri" pitchFamily="34" charset="-120"/>
              </a:rPr>
              <a:t>Тауарды, дүкенді және санды біріктіретін draft қалыптастыру</a:t>
            </a:r>
            <a:endParaRPr lang="en-US" sz="1150" dirty="0"/>
          </a:p>
        </p:txBody>
      </p:sp>
      <p:sp>
        <p:nvSpPr>
          <p:cNvPr id="25" name="Text 23"/>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EKT ASSISTANT</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Сайт қандай аудиторияға арналған?</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737360"/>
            <a:ext cx="8046720" cy="868680"/>
          </a:xfrm>
          <a:prstGeom prst="roundRect">
            <a:avLst>
              <a:gd name="adj" fmla="val 8421"/>
            </a:avLst>
          </a:prstGeom>
          <a:solidFill>
            <a:srgbClr val="FFFFFF"/>
          </a:solidFill>
          <a:ln w="12700">
            <a:solidFill>
              <a:srgbClr val="E8E9EB"/>
            </a:solidFill>
            <a:prstDash val="solid"/>
          </a:ln>
        </p:spPr>
      </p:sp>
      <p:sp>
        <p:nvSpPr>
          <p:cNvPr id="6" name="Shape 4"/>
          <p:cNvSpPr/>
          <p:nvPr/>
        </p:nvSpPr>
        <p:spPr>
          <a:xfrm>
            <a:off x="777240" y="1975104"/>
            <a:ext cx="402336" cy="402336"/>
          </a:xfrm>
          <a:prstGeom prst="ellipse">
            <a:avLst/>
          </a:prstGeom>
          <a:solidFill>
            <a:srgbClr val="E66D36"/>
          </a:solidFill>
          <a:ln/>
        </p:spPr>
      </p:sp>
      <p:sp>
        <p:nvSpPr>
          <p:cNvPr id="7" name="Text 5"/>
          <p:cNvSpPr txBox="1"/>
          <p:nvPr/>
        </p:nvSpPr>
        <p:spPr>
          <a:xfrm>
            <a:off x="77724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371600" y="1847088"/>
            <a:ext cx="6949440" cy="292608"/>
          </a:xfrm>
          <a:prstGeom prst="rect">
            <a:avLst/>
          </a:prstGeom>
          <a:noFill/>
          <a:ln/>
        </p:spPr>
        <p:txBody>
          <a:bodyPr wrap="square" lIns="0" tIns="0" rIns="0" bIns="0" rtlCol="0" anchor="ctr"/>
          <a:lstStyle/>
          <a:p>
            <a:pPr indent="0" marL="0">
              <a:buNone/>
            </a:pPr>
            <a:r>
              <a:rPr lang="en-US" sz="1400" b="1" dirty="0">
                <a:solidFill>
                  <a:srgbClr val="25282B"/>
                </a:solidFill>
                <a:latin typeface="Cambria" pitchFamily="34" charset="0"/>
                <a:ea typeface="Cambria" pitchFamily="34" charset="-122"/>
                <a:cs typeface="Cambria" pitchFamily="34" charset="-120"/>
              </a:rPr>
              <a:t>Онлайн-дүкен қолданушылары</a:t>
            </a:r>
            <a:endParaRPr lang="en-US" sz="1400" dirty="0"/>
          </a:p>
        </p:txBody>
      </p:sp>
      <p:sp>
        <p:nvSpPr>
          <p:cNvPr id="9" name="Text 7"/>
          <p:cNvSpPr txBox="1"/>
          <p:nvPr/>
        </p:nvSpPr>
        <p:spPr>
          <a:xfrm>
            <a:off x="1371600" y="2157984"/>
            <a:ext cx="6949440" cy="365760"/>
          </a:xfrm>
          <a:prstGeom prst="rect">
            <a:avLst/>
          </a:prstGeom>
          <a:noFill/>
          <a:ln/>
        </p:spPr>
        <p:txBody>
          <a:bodyPr wrap="square" lIns="0" tIns="0" rIns="0" bIns="0" rtlCol="0" anchor="ctr"/>
          <a:lstStyle/>
          <a:p>
            <a:pPr indent="0" marL="0">
              <a:buNone/>
            </a:pPr>
            <a:r>
              <a:rPr lang="en-US" sz="1150" dirty="0">
                <a:solidFill>
                  <a:srgbClr val="888D94"/>
                </a:solidFill>
                <a:latin typeface="Calibri" pitchFamily="34" charset="0"/>
                <a:ea typeface="Calibri" pitchFamily="34" charset="-122"/>
                <a:cs typeface="Calibri" pitchFamily="34" charset="-120"/>
              </a:rPr>
              <a:t>Электр тауарларын таңдап, сипаттамасын салыстырып, себетке қосатын сатып алушылар</a:t>
            </a:r>
            <a:endParaRPr lang="en-US" sz="1150" dirty="0"/>
          </a:p>
        </p:txBody>
      </p:sp>
      <p:sp>
        <p:nvSpPr>
          <p:cNvPr id="10" name="Shape 8"/>
          <p:cNvSpPr/>
          <p:nvPr/>
        </p:nvSpPr>
        <p:spPr>
          <a:xfrm>
            <a:off x="548640" y="2761488"/>
            <a:ext cx="8046720" cy="868680"/>
          </a:xfrm>
          <a:prstGeom prst="roundRect">
            <a:avLst>
              <a:gd name="adj" fmla="val 8421"/>
            </a:avLst>
          </a:prstGeom>
          <a:solidFill>
            <a:srgbClr val="FFFFFF"/>
          </a:solidFill>
          <a:ln w="12700">
            <a:solidFill>
              <a:srgbClr val="E8E9EB"/>
            </a:solidFill>
            <a:prstDash val="solid"/>
          </a:ln>
        </p:spPr>
      </p:sp>
      <p:sp>
        <p:nvSpPr>
          <p:cNvPr id="11" name="Shape 9"/>
          <p:cNvSpPr/>
          <p:nvPr/>
        </p:nvSpPr>
        <p:spPr>
          <a:xfrm>
            <a:off x="777240" y="2999232"/>
            <a:ext cx="402336" cy="402336"/>
          </a:xfrm>
          <a:prstGeom prst="ellipse">
            <a:avLst/>
          </a:prstGeom>
          <a:solidFill>
            <a:srgbClr val="E66D36"/>
          </a:solidFill>
          <a:ln/>
        </p:spPr>
      </p:sp>
      <p:sp>
        <p:nvSpPr>
          <p:cNvPr id="12" name="Text 10"/>
          <p:cNvSpPr txBox="1"/>
          <p:nvPr/>
        </p:nvSpPr>
        <p:spPr>
          <a:xfrm>
            <a:off x="777240" y="2999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371600" y="2871216"/>
            <a:ext cx="6949440" cy="292608"/>
          </a:xfrm>
          <a:prstGeom prst="rect">
            <a:avLst/>
          </a:prstGeom>
          <a:noFill/>
          <a:ln/>
        </p:spPr>
        <p:txBody>
          <a:bodyPr wrap="square" lIns="0" tIns="0" rIns="0" bIns="0" rtlCol="0" anchor="ctr"/>
          <a:lstStyle/>
          <a:p>
            <a:pPr indent="0" marL="0">
              <a:buNone/>
            </a:pPr>
            <a:r>
              <a:rPr lang="en-US" sz="1400" b="1" dirty="0">
                <a:solidFill>
                  <a:srgbClr val="25282B"/>
                </a:solidFill>
                <a:latin typeface="Cambria" pitchFamily="34" charset="0"/>
                <a:ea typeface="Cambria" pitchFamily="34" charset="-122"/>
                <a:cs typeface="Cambria" pitchFamily="34" charset="-120"/>
              </a:rPr>
              <a:t>Дүкен менеджерлері</a:t>
            </a:r>
            <a:endParaRPr lang="en-US" sz="1400" dirty="0"/>
          </a:p>
        </p:txBody>
      </p:sp>
      <p:sp>
        <p:nvSpPr>
          <p:cNvPr id="14" name="Text 12"/>
          <p:cNvSpPr txBox="1"/>
          <p:nvPr/>
        </p:nvSpPr>
        <p:spPr>
          <a:xfrm>
            <a:off x="1371600" y="3182112"/>
            <a:ext cx="6949440" cy="365760"/>
          </a:xfrm>
          <a:prstGeom prst="rect">
            <a:avLst/>
          </a:prstGeom>
          <a:noFill/>
          <a:ln/>
        </p:spPr>
        <p:txBody>
          <a:bodyPr wrap="square" lIns="0" tIns="0" rIns="0" bIns="0" rtlCol="0" anchor="ctr"/>
          <a:lstStyle/>
          <a:p>
            <a:pPr indent="0" marL="0">
              <a:buNone/>
            </a:pPr>
            <a:r>
              <a:rPr lang="en-US" sz="1150" dirty="0">
                <a:solidFill>
                  <a:srgbClr val="888D94"/>
                </a:solidFill>
                <a:latin typeface="Calibri" pitchFamily="34" charset="0"/>
                <a:ea typeface="Calibri" pitchFamily="34" charset="-122"/>
                <a:cs typeface="Calibri" pitchFamily="34" charset="-120"/>
              </a:rPr>
              <a:t>Тауар қолжетімсіз болғанда немесе деректе қайшылық туындағанда хабардар болатын тарап</a:t>
            </a:r>
            <a:endParaRPr lang="en-US" sz="1150" dirty="0"/>
          </a:p>
        </p:txBody>
      </p:sp>
      <p:sp>
        <p:nvSpPr>
          <p:cNvPr id="15" name="Shape 13"/>
          <p:cNvSpPr/>
          <p:nvPr/>
        </p:nvSpPr>
        <p:spPr>
          <a:xfrm>
            <a:off x="548640" y="3785616"/>
            <a:ext cx="8046720" cy="868680"/>
          </a:xfrm>
          <a:prstGeom prst="roundRect">
            <a:avLst>
              <a:gd name="adj" fmla="val 8421"/>
            </a:avLst>
          </a:prstGeom>
          <a:solidFill>
            <a:srgbClr val="FFFFFF"/>
          </a:solidFill>
          <a:ln w="12700">
            <a:solidFill>
              <a:srgbClr val="E8E9EB"/>
            </a:solidFill>
            <a:prstDash val="solid"/>
          </a:ln>
        </p:spPr>
      </p:sp>
      <p:sp>
        <p:nvSpPr>
          <p:cNvPr id="16" name="Shape 14"/>
          <p:cNvSpPr/>
          <p:nvPr/>
        </p:nvSpPr>
        <p:spPr>
          <a:xfrm>
            <a:off x="777240" y="4023360"/>
            <a:ext cx="402336" cy="402336"/>
          </a:xfrm>
          <a:prstGeom prst="ellipse">
            <a:avLst/>
          </a:prstGeom>
          <a:solidFill>
            <a:srgbClr val="E66D36"/>
          </a:solidFill>
          <a:ln/>
        </p:spPr>
      </p:sp>
      <p:sp>
        <p:nvSpPr>
          <p:cNvPr id="17" name="Text 15"/>
          <p:cNvSpPr txBox="1"/>
          <p:nvPr/>
        </p:nvSpPr>
        <p:spPr>
          <a:xfrm>
            <a:off x="777240" y="4023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371600" y="3895344"/>
            <a:ext cx="6949440" cy="292608"/>
          </a:xfrm>
          <a:prstGeom prst="rect">
            <a:avLst/>
          </a:prstGeom>
          <a:noFill/>
          <a:ln/>
        </p:spPr>
        <p:txBody>
          <a:bodyPr wrap="square" lIns="0" tIns="0" rIns="0" bIns="0" rtlCol="0" anchor="ctr"/>
          <a:lstStyle/>
          <a:p>
            <a:pPr indent="0" marL="0">
              <a:buNone/>
            </a:pPr>
            <a:r>
              <a:rPr lang="en-US" sz="1400" b="1" dirty="0">
                <a:solidFill>
                  <a:srgbClr val="25282B"/>
                </a:solidFill>
                <a:latin typeface="Cambria" pitchFamily="34" charset="0"/>
                <a:ea typeface="Cambria" pitchFamily="34" charset="-122"/>
                <a:cs typeface="Cambria" pitchFamily="34" charset="-120"/>
              </a:rPr>
              <a:t>Көп тілде сөйлейтін клиенттер</a:t>
            </a:r>
            <a:endParaRPr lang="en-US" sz="1400" dirty="0"/>
          </a:p>
        </p:txBody>
      </p:sp>
      <p:sp>
        <p:nvSpPr>
          <p:cNvPr id="19" name="Text 17"/>
          <p:cNvSpPr txBox="1"/>
          <p:nvPr/>
        </p:nvSpPr>
        <p:spPr>
          <a:xfrm>
            <a:off x="1371600" y="4206240"/>
            <a:ext cx="6949440" cy="365760"/>
          </a:xfrm>
          <a:prstGeom prst="rect">
            <a:avLst/>
          </a:prstGeom>
          <a:noFill/>
          <a:ln/>
        </p:spPr>
        <p:txBody>
          <a:bodyPr wrap="square" lIns="0" tIns="0" rIns="0" bIns="0" rtlCol="0" anchor="ctr"/>
          <a:lstStyle/>
          <a:p>
            <a:pPr indent="0" marL="0">
              <a:buNone/>
            </a:pPr>
            <a:r>
              <a:rPr lang="en-US" sz="1150" dirty="0">
                <a:solidFill>
                  <a:srgbClr val="888D94"/>
                </a:solidFill>
                <a:latin typeface="Calibri" pitchFamily="34" charset="0"/>
                <a:ea typeface="Calibri" pitchFamily="34" charset="-122"/>
                <a:cs typeface="Calibri" pitchFamily="34" charset="-120"/>
              </a:rPr>
              <a:t>Қазақ, орыс және ағылшын тілдерінде қызмет алғысы келетін пайдаланушылар</a:t>
            </a:r>
            <a:endParaRPr lang="en-US" sz="1150" dirty="0"/>
          </a:p>
        </p:txBody>
      </p:sp>
      <p:sp>
        <p:nvSpPr>
          <p:cNvPr id="20" name="Text 18"/>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АРХИТЕКТУРА</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Кодтағы негізгі айнымалылар мен функциялар</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Text 3"/>
          <p:cNvSpPr txBox="1"/>
          <p:nvPr/>
        </p:nvSpPr>
        <p:spPr>
          <a:xfrm>
            <a:off x="548640" y="1554480"/>
            <a:ext cx="3840480" cy="274320"/>
          </a:xfrm>
          <a:prstGeom prst="rect">
            <a:avLst/>
          </a:prstGeom>
          <a:noFill/>
          <a:ln/>
        </p:spPr>
        <p:txBody>
          <a:bodyPr wrap="square" lIns="0" tIns="0" rIns="0" bIns="0" rtlCol="0" anchor="ctr"/>
          <a:lstStyle/>
          <a:p>
            <a:pPr indent="0" marL="0">
              <a:buNone/>
            </a:pPr>
            <a:r>
              <a:rPr lang="en-US" sz="1300" b="1" dirty="0">
                <a:solidFill>
                  <a:srgbClr val="D55E29"/>
                </a:solidFill>
                <a:latin typeface="Cambria" pitchFamily="34" charset="0"/>
                <a:ea typeface="Cambria" pitchFamily="34" charset="-122"/>
                <a:cs typeface="Cambria" pitchFamily="34" charset="-120"/>
              </a:rPr>
              <a:t>Үш негізгі дерек</a:t>
            </a:r>
            <a:endParaRPr lang="en-US" sz="1300" dirty="0"/>
          </a:p>
        </p:txBody>
      </p:sp>
      <p:sp>
        <p:nvSpPr>
          <p:cNvPr id="6" name="Shape 4"/>
          <p:cNvSpPr/>
          <p:nvPr/>
        </p:nvSpPr>
        <p:spPr>
          <a:xfrm>
            <a:off x="548640" y="1874520"/>
            <a:ext cx="3840480" cy="457200"/>
          </a:xfrm>
          <a:prstGeom prst="roundRect">
            <a:avLst>
              <a:gd name="adj" fmla="val 12000"/>
            </a:avLst>
          </a:prstGeom>
          <a:solidFill>
            <a:srgbClr val="FFFFFF"/>
          </a:solidFill>
          <a:ln w="12700">
            <a:solidFill>
              <a:srgbClr val="E8E9EB"/>
            </a:solidFill>
            <a:prstDash val="solid"/>
          </a:ln>
        </p:spPr>
      </p:sp>
      <p:sp>
        <p:nvSpPr>
          <p:cNvPr id="7" name="Text 5"/>
          <p:cNvSpPr txBox="1"/>
          <p:nvPr/>
        </p:nvSpPr>
        <p:spPr>
          <a:xfrm>
            <a:off x="685800" y="1874520"/>
            <a:ext cx="457200" cy="457200"/>
          </a:xfrm>
          <a:prstGeom prst="rect">
            <a:avLst/>
          </a:prstGeom>
          <a:noFill/>
          <a:ln/>
        </p:spPr>
        <p:txBody>
          <a:bodyPr wrap="square" lIns="0" tIns="0" rIns="0" bIns="0" rtlCol="0" anchor="ctr"/>
          <a:lstStyle/>
          <a:p>
            <a:pPr indent="0" marL="0">
              <a:buNone/>
            </a:pPr>
            <a:r>
              <a:rPr lang="en-US" sz="1400" b="1" dirty="0">
                <a:solidFill>
                  <a:srgbClr val="E66D36"/>
                </a:solidFill>
                <a:latin typeface="Courier New" pitchFamily="34" charset="0"/>
                <a:ea typeface="Courier New" pitchFamily="34" charset="-122"/>
                <a:cs typeface="Courier New" pitchFamily="34" charset="-120"/>
              </a:rPr>
              <a:t>q</a:t>
            </a:r>
            <a:endParaRPr lang="en-US" sz="1400" dirty="0"/>
          </a:p>
        </p:txBody>
      </p:sp>
      <p:sp>
        <p:nvSpPr>
          <p:cNvPr id="8" name="Text 6"/>
          <p:cNvSpPr txBox="1"/>
          <p:nvPr/>
        </p:nvSpPr>
        <p:spPr>
          <a:xfrm>
            <a:off x="1188720" y="1874520"/>
            <a:ext cx="3108960" cy="457200"/>
          </a:xfrm>
          <a:prstGeom prst="rect">
            <a:avLst/>
          </a:prstGeom>
          <a:noFill/>
          <a:ln/>
        </p:spPr>
        <p:txBody>
          <a:bodyPr wrap="square" lIns="0" tIns="0" rIns="0" bIns="0" rtlCol="0" anchor="ctr"/>
          <a:lstStyle/>
          <a:p>
            <a:pPr indent="0" marL="0">
              <a:buNone/>
            </a:pPr>
            <a:r>
              <a:rPr lang="en-US" sz="1200" dirty="0">
                <a:solidFill>
                  <a:srgbClr val="25282B"/>
                </a:solidFill>
                <a:latin typeface="Calibri" pitchFamily="34" charset="0"/>
                <a:ea typeface="Calibri" pitchFamily="34" charset="-122"/>
                <a:cs typeface="Calibri" pitchFamily="34" charset="-120"/>
              </a:rPr>
              <a:t>пайдаланушының сұрауы</a:t>
            </a:r>
            <a:endParaRPr lang="en-US" sz="1200" dirty="0"/>
          </a:p>
        </p:txBody>
      </p:sp>
      <p:sp>
        <p:nvSpPr>
          <p:cNvPr id="9" name="Shape 7"/>
          <p:cNvSpPr/>
          <p:nvPr/>
        </p:nvSpPr>
        <p:spPr>
          <a:xfrm>
            <a:off x="548640" y="2441448"/>
            <a:ext cx="3840480" cy="457200"/>
          </a:xfrm>
          <a:prstGeom prst="roundRect">
            <a:avLst>
              <a:gd name="adj" fmla="val 12000"/>
            </a:avLst>
          </a:prstGeom>
          <a:solidFill>
            <a:srgbClr val="FFFFFF"/>
          </a:solidFill>
          <a:ln w="12700">
            <a:solidFill>
              <a:srgbClr val="E8E9EB"/>
            </a:solidFill>
            <a:prstDash val="solid"/>
          </a:ln>
        </p:spPr>
      </p:sp>
      <p:sp>
        <p:nvSpPr>
          <p:cNvPr id="10" name="Text 8"/>
          <p:cNvSpPr txBox="1"/>
          <p:nvPr/>
        </p:nvSpPr>
        <p:spPr>
          <a:xfrm>
            <a:off x="685800" y="2441448"/>
            <a:ext cx="457200" cy="457200"/>
          </a:xfrm>
          <a:prstGeom prst="rect">
            <a:avLst/>
          </a:prstGeom>
          <a:noFill/>
          <a:ln/>
        </p:spPr>
        <p:txBody>
          <a:bodyPr wrap="square" lIns="0" tIns="0" rIns="0" bIns="0" rtlCol="0" anchor="ctr"/>
          <a:lstStyle/>
          <a:p>
            <a:pPr indent="0" marL="0">
              <a:buNone/>
            </a:pPr>
            <a:r>
              <a:rPr lang="en-US" sz="1400" b="1" dirty="0">
                <a:solidFill>
                  <a:srgbClr val="E66D36"/>
                </a:solidFill>
                <a:latin typeface="Courier New" pitchFamily="34" charset="0"/>
                <a:ea typeface="Courier New" pitchFamily="34" charset="-122"/>
                <a:cs typeface="Courier New" pitchFamily="34" charset="-120"/>
              </a:rPr>
              <a:t>p</a:t>
            </a:r>
            <a:endParaRPr lang="en-US" sz="1400" dirty="0"/>
          </a:p>
        </p:txBody>
      </p:sp>
      <p:sp>
        <p:nvSpPr>
          <p:cNvPr id="11" name="Text 9"/>
          <p:cNvSpPr txBox="1"/>
          <p:nvPr/>
        </p:nvSpPr>
        <p:spPr>
          <a:xfrm>
            <a:off x="1188720" y="2441448"/>
            <a:ext cx="3108960" cy="457200"/>
          </a:xfrm>
          <a:prstGeom prst="rect">
            <a:avLst/>
          </a:prstGeom>
          <a:noFill/>
          <a:ln/>
        </p:spPr>
        <p:txBody>
          <a:bodyPr wrap="square" lIns="0" tIns="0" rIns="0" bIns="0" rtlCol="0" anchor="ctr"/>
          <a:lstStyle/>
          <a:p>
            <a:pPr indent="0" marL="0">
              <a:buNone/>
            </a:pPr>
            <a:r>
              <a:rPr lang="en-US" sz="1200" dirty="0">
                <a:solidFill>
                  <a:srgbClr val="25282B"/>
                </a:solidFill>
                <a:latin typeface="Calibri" pitchFamily="34" charset="0"/>
                <a:ea typeface="Calibri" pitchFamily="34" charset="-122"/>
                <a:cs typeface="Calibri" pitchFamily="34" charset="-120"/>
              </a:rPr>
              <a:t>таңдалған тауар</a:t>
            </a:r>
            <a:endParaRPr lang="en-US" sz="1200" dirty="0"/>
          </a:p>
        </p:txBody>
      </p:sp>
      <p:sp>
        <p:nvSpPr>
          <p:cNvPr id="12" name="Shape 10"/>
          <p:cNvSpPr/>
          <p:nvPr/>
        </p:nvSpPr>
        <p:spPr>
          <a:xfrm>
            <a:off x="548640" y="3008376"/>
            <a:ext cx="3840480" cy="457200"/>
          </a:xfrm>
          <a:prstGeom prst="roundRect">
            <a:avLst>
              <a:gd name="adj" fmla="val 12000"/>
            </a:avLst>
          </a:prstGeom>
          <a:solidFill>
            <a:srgbClr val="FFFFFF"/>
          </a:solidFill>
          <a:ln w="12700">
            <a:solidFill>
              <a:srgbClr val="E8E9EB"/>
            </a:solidFill>
            <a:prstDash val="solid"/>
          </a:ln>
        </p:spPr>
      </p:sp>
      <p:sp>
        <p:nvSpPr>
          <p:cNvPr id="13" name="Text 11"/>
          <p:cNvSpPr txBox="1"/>
          <p:nvPr/>
        </p:nvSpPr>
        <p:spPr>
          <a:xfrm>
            <a:off x="685800" y="3008376"/>
            <a:ext cx="457200" cy="457200"/>
          </a:xfrm>
          <a:prstGeom prst="rect">
            <a:avLst/>
          </a:prstGeom>
          <a:noFill/>
          <a:ln/>
        </p:spPr>
        <p:txBody>
          <a:bodyPr wrap="square" lIns="0" tIns="0" rIns="0" bIns="0" rtlCol="0" anchor="ctr"/>
          <a:lstStyle/>
          <a:p>
            <a:pPr indent="0" marL="0">
              <a:buNone/>
            </a:pPr>
            <a:r>
              <a:rPr lang="en-US" sz="1400" b="1" dirty="0">
                <a:solidFill>
                  <a:srgbClr val="E66D36"/>
                </a:solidFill>
                <a:latin typeface="Courier New" pitchFamily="34" charset="0"/>
                <a:ea typeface="Courier New" pitchFamily="34" charset="-122"/>
                <a:cs typeface="Courier New" pitchFamily="34" charset="-120"/>
              </a:rPr>
              <a:t>l</a:t>
            </a:r>
            <a:endParaRPr lang="en-US" sz="1400" dirty="0"/>
          </a:p>
        </p:txBody>
      </p:sp>
      <p:sp>
        <p:nvSpPr>
          <p:cNvPr id="14" name="Text 12"/>
          <p:cNvSpPr txBox="1"/>
          <p:nvPr/>
        </p:nvSpPr>
        <p:spPr>
          <a:xfrm>
            <a:off x="1188720" y="3008376"/>
            <a:ext cx="3108960" cy="457200"/>
          </a:xfrm>
          <a:prstGeom prst="rect">
            <a:avLst/>
          </a:prstGeom>
          <a:noFill/>
          <a:ln/>
        </p:spPr>
        <p:txBody>
          <a:bodyPr wrap="square" lIns="0" tIns="0" rIns="0" bIns="0" rtlCol="0" anchor="ctr"/>
          <a:lstStyle/>
          <a:p>
            <a:pPr indent="0" marL="0">
              <a:buNone/>
            </a:pPr>
            <a:r>
              <a:rPr lang="en-US" sz="1200" dirty="0">
                <a:solidFill>
                  <a:srgbClr val="25282B"/>
                </a:solidFill>
                <a:latin typeface="Calibri" pitchFamily="34" charset="0"/>
                <a:ea typeface="Calibri" pitchFamily="34" charset="-122"/>
                <a:cs typeface="Calibri" pitchFamily="34" charset="-120"/>
              </a:rPr>
              <a:t>жауап тілі</a:t>
            </a:r>
            <a:endParaRPr lang="en-US" sz="1200" dirty="0"/>
          </a:p>
        </p:txBody>
      </p:sp>
      <p:sp>
        <p:nvSpPr>
          <p:cNvPr id="15" name="Text 13"/>
          <p:cNvSpPr txBox="1"/>
          <p:nvPr/>
        </p:nvSpPr>
        <p:spPr>
          <a:xfrm>
            <a:off x="4754880" y="1554480"/>
            <a:ext cx="3840480" cy="274320"/>
          </a:xfrm>
          <a:prstGeom prst="rect">
            <a:avLst/>
          </a:prstGeom>
          <a:noFill/>
          <a:ln/>
        </p:spPr>
        <p:txBody>
          <a:bodyPr wrap="square" lIns="0" tIns="0" rIns="0" bIns="0" rtlCol="0" anchor="ctr"/>
          <a:lstStyle/>
          <a:p>
            <a:pPr indent="0" marL="0">
              <a:buNone/>
            </a:pPr>
            <a:r>
              <a:rPr lang="en-US" sz="1300" b="1" dirty="0">
                <a:solidFill>
                  <a:srgbClr val="D55E29"/>
                </a:solidFill>
                <a:latin typeface="Cambria" pitchFamily="34" charset="0"/>
                <a:ea typeface="Cambria" pitchFamily="34" charset="-122"/>
                <a:cs typeface="Cambria" pitchFamily="34" charset="-120"/>
              </a:rPr>
              <a:t>Негізгі функциялар</a:t>
            </a:r>
            <a:endParaRPr lang="en-US" sz="1300" dirty="0"/>
          </a:p>
        </p:txBody>
      </p:sp>
      <p:sp>
        <p:nvSpPr>
          <p:cNvPr id="16" name="Shape 14"/>
          <p:cNvSpPr/>
          <p:nvPr/>
        </p:nvSpPr>
        <p:spPr>
          <a:xfrm>
            <a:off x="4754880" y="1874520"/>
            <a:ext cx="3840480" cy="457200"/>
          </a:xfrm>
          <a:prstGeom prst="roundRect">
            <a:avLst>
              <a:gd name="adj" fmla="val 12000"/>
            </a:avLst>
          </a:prstGeom>
          <a:solidFill>
            <a:srgbClr val="FFFFFF"/>
          </a:solidFill>
          <a:ln w="12700">
            <a:solidFill>
              <a:srgbClr val="E8E9EB"/>
            </a:solidFill>
            <a:prstDash val="solid"/>
          </a:ln>
        </p:spPr>
      </p:sp>
      <p:sp>
        <p:nvSpPr>
          <p:cNvPr id="17" name="Text 15"/>
          <p:cNvSpPr txBox="1"/>
          <p:nvPr/>
        </p:nvSpPr>
        <p:spPr>
          <a:xfrm>
            <a:off x="4892040" y="1874520"/>
            <a:ext cx="2103120" cy="457200"/>
          </a:xfrm>
          <a:prstGeom prst="rect">
            <a:avLst/>
          </a:prstGeom>
          <a:noFill/>
          <a:ln/>
        </p:spPr>
        <p:txBody>
          <a:bodyPr wrap="square" lIns="0" tIns="0" rIns="0" bIns="0" rtlCol="0" anchor="ctr"/>
          <a:lstStyle/>
          <a:p>
            <a:pPr indent="0" marL="0">
              <a:buNone/>
            </a:pPr>
            <a:r>
              <a:rPr lang="en-US" sz="1050" b="1" dirty="0">
                <a:solidFill>
                  <a:srgbClr val="E66D36"/>
                </a:solidFill>
                <a:latin typeface="Courier New" pitchFamily="34" charset="0"/>
                <a:ea typeface="Courier New" pitchFamily="34" charset="-122"/>
                <a:cs typeface="Courier New" pitchFamily="34" charset="-120"/>
              </a:rPr>
              <a:t>alternatives(p)</a:t>
            </a:r>
            <a:endParaRPr lang="en-US" sz="1050" dirty="0"/>
          </a:p>
        </p:txBody>
      </p:sp>
      <p:sp>
        <p:nvSpPr>
          <p:cNvPr id="18" name="Text 16"/>
          <p:cNvSpPr txBox="1"/>
          <p:nvPr/>
        </p:nvSpPr>
        <p:spPr>
          <a:xfrm>
            <a:off x="6949440" y="1874520"/>
            <a:ext cx="1600200" cy="457200"/>
          </a:xfrm>
          <a:prstGeom prst="rect">
            <a:avLst/>
          </a:prstGeom>
          <a:noFill/>
          <a:ln/>
        </p:spPr>
        <p:txBody>
          <a:bodyPr wrap="square" lIns="0" tIns="0" rIns="0" bIns="0" rtlCol="0" anchor="ctr"/>
          <a:lstStyle/>
          <a:p>
            <a:pPr indent="0" marL="0">
              <a:buNone/>
            </a:pPr>
            <a:r>
              <a:rPr lang="en-US" sz="1000" dirty="0">
                <a:solidFill>
                  <a:srgbClr val="25282B"/>
                </a:solidFill>
                <a:latin typeface="Calibri" pitchFamily="34" charset="0"/>
                <a:ea typeface="Calibri" pitchFamily="34" charset="-122"/>
                <a:cs typeface="Calibri" pitchFamily="34" charset="-120"/>
              </a:rPr>
              <a:t>баламаларды алу</a:t>
            </a:r>
            <a:endParaRPr lang="en-US" sz="1000" dirty="0"/>
          </a:p>
        </p:txBody>
      </p:sp>
      <p:sp>
        <p:nvSpPr>
          <p:cNvPr id="19" name="Shape 17"/>
          <p:cNvSpPr/>
          <p:nvPr/>
        </p:nvSpPr>
        <p:spPr>
          <a:xfrm>
            <a:off x="4754880" y="2441448"/>
            <a:ext cx="3840480" cy="457200"/>
          </a:xfrm>
          <a:prstGeom prst="roundRect">
            <a:avLst>
              <a:gd name="adj" fmla="val 12000"/>
            </a:avLst>
          </a:prstGeom>
          <a:solidFill>
            <a:srgbClr val="FFFFFF"/>
          </a:solidFill>
          <a:ln w="12700">
            <a:solidFill>
              <a:srgbClr val="E8E9EB"/>
            </a:solidFill>
            <a:prstDash val="solid"/>
          </a:ln>
        </p:spPr>
      </p:sp>
      <p:sp>
        <p:nvSpPr>
          <p:cNvPr id="20" name="Text 18"/>
          <p:cNvSpPr txBox="1"/>
          <p:nvPr/>
        </p:nvSpPr>
        <p:spPr>
          <a:xfrm>
            <a:off x="4892040" y="2441448"/>
            <a:ext cx="2103120" cy="457200"/>
          </a:xfrm>
          <a:prstGeom prst="rect">
            <a:avLst/>
          </a:prstGeom>
          <a:noFill/>
          <a:ln/>
        </p:spPr>
        <p:txBody>
          <a:bodyPr wrap="square" lIns="0" tIns="0" rIns="0" bIns="0" rtlCol="0" anchor="ctr"/>
          <a:lstStyle/>
          <a:p>
            <a:pPr indent="0" marL="0">
              <a:buNone/>
            </a:pPr>
            <a:r>
              <a:rPr lang="en-US" sz="1050" b="1" dirty="0">
                <a:solidFill>
                  <a:srgbClr val="E66D36"/>
                </a:solidFill>
                <a:latin typeface="Courier New" pitchFamily="34" charset="0"/>
                <a:ea typeface="Courier New" pitchFamily="34" charset="-122"/>
                <a:cs typeface="Courier New" pitchFamily="34" charset="-120"/>
              </a:rPr>
              <a:t>productName(), money()</a:t>
            </a:r>
            <a:endParaRPr lang="en-US" sz="1050" dirty="0"/>
          </a:p>
        </p:txBody>
      </p:sp>
      <p:sp>
        <p:nvSpPr>
          <p:cNvPr id="21" name="Text 19"/>
          <p:cNvSpPr txBox="1"/>
          <p:nvPr/>
        </p:nvSpPr>
        <p:spPr>
          <a:xfrm>
            <a:off x="6949440" y="2441448"/>
            <a:ext cx="1600200" cy="457200"/>
          </a:xfrm>
          <a:prstGeom prst="rect">
            <a:avLst/>
          </a:prstGeom>
          <a:noFill/>
          <a:ln/>
        </p:spPr>
        <p:txBody>
          <a:bodyPr wrap="square" lIns="0" tIns="0" rIns="0" bIns="0" rtlCol="0" anchor="ctr"/>
          <a:lstStyle/>
          <a:p>
            <a:pPr indent="0" marL="0">
              <a:buNone/>
            </a:pPr>
            <a:r>
              <a:rPr lang="en-US" sz="1000" dirty="0">
                <a:solidFill>
                  <a:srgbClr val="25282B"/>
                </a:solidFill>
                <a:latin typeface="Calibri" pitchFamily="34" charset="0"/>
                <a:ea typeface="Calibri" pitchFamily="34" charset="-122"/>
                <a:cs typeface="Calibri" pitchFamily="34" charset="-120"/>
              </a:rPr>
              <a:t>атау мен бағаны шығару</a:t>
            </a:r>
            <a:endParaRPr lang="en-US" sz="1000" dirty="0"/>
          </a:p>
        </p:txBody>
      </p:sp>
      <p:sp>
        <p:nvSpPr>
          <p:cNvPr id="22" name="Shape 20"/>
          <p:cNvSpPr/>
          <p:nvPr/>
        </p:nvSpPr>
        <p:spPr>
          <a:xfrm>
            <a:off x="4754880" y="3008376"/>
            <a:ext cx="3840480" cy="457200"/>
          </a:xfrm>
          <a:prstGeom prst="roundRect">
            <a:avLst>
              <a:gd name="adj" fmla="val 12000"/>
            </a:avLst>
          </a:prstGeom>
          <a:solidFill>
            <a:srgbClr val="FFFFFF"/>
          </a:solidFill>
          <a:ln w="12700">
            <a:solidFill>
              <a:srgbClr val="E8E9EB"/>
            </a:solidFill>
            <a:prstDash val="solid"/>
          </a:ln>
        </p:spPr>
      </p:sp>
      <p:sp>
        <p:nvSpPr>
          <p:cNvPr id="23" name="Text 21"/>
          <p:cNvSpPr txBox="1"/>
          <p:nvPr/>
        </p:nvSpPr>
        <p:spPr>
          <a:xfrm>
            <a:off x="4892040" y="3008376"/>
            <a:ext cx="2103120" cy="457200"/>
          </a:xfrm>
          <a:prstGeom prst="rect">
            <a:avLst/>
          </a:prstGeom>
          <a:noFill/>
          <a:ln/>
        </p:spPr>
        <p:txBody>
          <a:bodyPr wrap="square" lIns="0" tIns="0" rIns="0" bIns="0" rtlCol="0" anchor="ctr"/>
          <a:lstStyle/>
          <a:p>
            <a:pPr indent="0" marL="0">
              <a:buNone/>
            </a:pPr>
            <a:r>
              <a:rPr lang="en-US" sz="1050" b="1" dirty="0">
                <a:solidFill>
                  <a:srgbClr val="E66D36"/>
                </a:solidFill>
                <a:latin typeface="Courier New" pitchFamily="34" charset="0"/>
                <a:ea typeface="Courier New" pitchFamily="34" charset="-122"/>
                <a:cs typeface="Courier New" pitchFamily="34" charset="-120"/>
              </a:rPr>
              <a:t>pick(), t()</a:t>
            </a:r>
            <a:endParaRPr lang="en-US" sz="1050" dirty="0"/>
          </a:p>
        </p:txBody>
      </p:sp>
      <p:sp>
        <p:nvSpPr>
          <p:cNvPr id="24" name="Text 22"/>
          <p:cNvSpPr txBox="1"/>
          <p:nvPr/>
        </p:nvSpPr>
        <p:spPr>
          <a:xfrm>
            <a:off x="6949440" y="3008376"/>
            <a:ext cx="1600200" cy="457200"/>
          </a:xfrm>
          <a:prstGeom prst="rect">
            <a:avLst/>
          </a:prstGeom>
          <a:noFill/>
          <a:ln/>
        </p:spPr>
        <p:txBody>
          <a:bodyPr wrap="square" lIns="0" tIns="0" rIns="0" bIns="0" rtlCol="0" anchor="ctr"/>
          <a:lstStyle/>
          <a:p>
            <a:pPr indent="0" marL="0">
              <a:buNone/>
            </a:pPr>
            <a:r>
              <a:rPr lang="en-US" sz="1000" dirty="0">
                <a:solidFill>
                  <a:srgbClr val="25282B"/>
                </a:solidFill>
                <a:latin typeface="Calibri" pitchFamily="34" charset="0"/>
                <a:ea typeface="Calibri" pitchFamily="34" charset="-122"/>
                <a:cs typeface="Calibri" pitchFamily="34" charset="-120"/>
              </a:rPr>
              <a:t>тілге сай мәтінді таңдау</a:t>
            </a:r>
            <a:endParaRPr lang="en-US" sz="1000" dirty="0"/>
          </a:p>
        </p:txBody>
      </p:sp>
      <p:sp>
        <p:nvSpPr>
          <p:cNvPr id="25" name="Shape 23"/>
          <p:cNvSpPr/>
          <p:nvPr/>
        </p:nvSpPr>
        <p:spPr>
          <a:xfrm>
            <a:off x="4754880" y="3575304"/>
            <a:ext cx="3840480" cy="457200"/>
          </a:xfrm>
          <a:prstGeom prst="roundRect">
            <a:avLst>
              <a:gd name="adj" fmla="val 12000"/>
            </a:avLst>
          </a:prstGeom>
          <a:solidFill>
            <a:srgbClr val="FFFFFF"/>
          </a:solidFill>
          <a:ln w="12700">
            <a:solidFill>
              <a:srgbClr val="E8E9EB"/>
            </a:solidFill>
            <a:prstDash val="solid"/>
          </a:ln>
        </p:spPr>
      </p:sp>
      <p:sp>
        <p:nvSpPr>
          <p:cNvPr id="26" name="Text 24"/>
          <p:cNvSpPr txBox="1"/>
          <p:nvPr/>
        </p:nvSpPr>
        <p:spPr>
          <a:xfrm>
            <a:off x="4892040" y="3575304"/>
            <a:ext cx="2103120" cy="457200"/>
          </a:xfrm>
          <a:prstGeom prst="rect">
            <a:avLst/>
          </a:prstGeom>
          <a:noFill/>
          <a:ln/>
        </p:spPr>
        <p:txBody>
          <a:bodyPr wrap="square" lIns="0" tIns="0" rIns="0" bIns="0" rtlCol="0" anchor="ctr"/>
          <a:lstStyle/>
          <a:p>
            <a:pPr indent="0" marL="0">
              <a:buNone/>
            </a:pPr>
            <a:r>
              <a:rPr lang="en-US" sz="1050" b="1" dirty="0">
                <a:solidFill>
                  <a:srgbClr val="E66D36"/>
                </a:solidFill>
                <a:latin typeface="Courier New" pitchFamily="34" charset="0"/>
                <a:ea typeface="Courier New" pitchFamily="34" charset="-122"/>
                <a:cs typeface="Courier New" pitchFamily="34" charset="-120"/>
              </a:rPr>
              <a:t>answer(text, ids)</a:t>
            </a:r>
            <a:endParaRPr lang="en-US" sz="1050" dirty="0"/>
          </a:p>
        </p:txBody>
      </p:sp>
      <p:sp>
        <p:nvSpPr>
          <p:cNvPr id="27" name="Text 25"/>
          <p:cNvSpPr txBox="1"/>
          <p:nvPr/>
        </p:nvSpPr>
        <p:spPr>
          <a:xfrm>
            <a:off x="6949440" y="3575304"/>
            <a:ext cx="1600200" cy="457200"/>
          </a:xfrm>
          <a:prstGeom prst="rect">
            <a:avLst/>
          </a:prstGeom>
          <a:noFill/>
          <a:ln/>
        </p:spPr>
        <p:txBody>
          <a:bodyPr wrap="square" lIns="0" tIns="0" rIns="0" bIns="0" rtlCol="0" anchor="ctr"/>
          <a:lstStyle/>
          <a:p>
            <a:pPr indent="0" marL="0">
              <a:buNone/>
            </a:pPr>
            <a:r>
              <a:rPr lang="en-US" sz="1000" dirty="0">
                <a:solidFill>
                  <a:srgbClr val="25282B"/>
                </a:solidFill>
                <a:latin typeface="Calibri" pitchFamily="34" charset="0"/>
                <a:ea typeface="Calibri" pitchFamily="34" charset="-122"/>
                <a:cs typeface="Calibri" pitchFamily="34" charset="-120"/>
              </a:rPr>
              <a:t>дайын жауапты қалыптастыру</a:t>
            </a:r>
            <a:endParaRPr lang="en-US" sz="1000" dirty="0"/>
          </a:p>
        </p:txBody>
      </p:sp>
      <p:sp>
        <p:nvSpPr>
          <p:cNvPr id="28" name="Text 26"/>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ЛОГИКА</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Балама іздеу қалай іске қосылады?</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Text 3"/>
          <p:cNvSpPr txBox="1"/>
          <p:nvPr/>
        </p:nvSpPr>
        <p:spPr>
          <a:xfrm>
            <a:off x="548640" y="1554480"/>
            <a:ext cx="8046720" cy="365760"/>
          </a:xfrm>
          <a:prstGeom prst="rect">
            <a:avLst/>
          </a:prstGeom>
          <a:noFill/>
          <a:ln/>
        </p:spPr>
        <p:txBody>
          <a:bodyPr wrap="square" lIns="0" tIns="0" rIns="0" bIns="0" rtlCol="0" anchor="ctr"/>
          <a:lstStyle/>
          <a:p>
            <a:pPr indent="0" marL="0">
              <a:buNone/>
            </a:pPr>
            <a:r>
              <a:rPr lang="en-US" sz="1350" dirty="0">
                <a:solidFill>
                  <a:srgbClr val="25282B"/>
                </a:solidFill>
                <a:latin typeface="Calibri" pitchFamily="34" charset="0"/>
                <a:ea typeface="Calibri" pitchFamily="34" charset="-122"/>
                <a:cs typeface="Calibri" pitchFamily="34" charset="-120"/>
              </a:rPr>
              <a:t>Балама ұсыну тармағы екі жағдайдың кемінде біреуі орындалғанда іске қосылады:</a:t>
            </a:r>
            <a:endParaRPr lang="en-US" sz="1350" dirty="0"/>
          </a:p>
        </p:txBody>
      </p:sp>
      <p:sp>
        <p:nvSpPr>
          <p:cNvPr id="6" name="Shape 4"/>
          <p:cNvSpPr/>
          <p:nvPr/>
        </p:nvSpPr>
        <p:spPr>
          <a:xfrm>
            <a:off x="548640" y="2057400"/>
            <a:ext cx="3886200" cy="1234440"/>
          </a:xfrm>
          <a:prstGeom prst="roundRect">
            <a:avLst>
              <a:gd name="adj" fmla="val 5926"/>
            </a:avLst>
          </a:prstGeom>
          <a:solidFill>
            <a:srgbClr val="FFFFFF"/>
          </a:solidFill>
          <a:ln w="12700">
            <a:solidFill>
              <a:srgbClr val="E8E9EB"/>
            </a:solidFill>
            <a:prstDash val="solid"/>
          </a:ln>
        </p:spPr>
      </p:sp>
      <p:sp>
        <p:nvSpPr>
          <p:cNvPr id="7" name="Text 5"/>
          <p:cNvSpPr txBox="1"/>
          <p:nvPr/>
        </p:nvSpPr>
        <p:spPr>
          <a:xfrm>
            <a:off x="777240" y="2194560"/>
            <a:ext cx="3474720" cy="274320"/>
          </a:xfrm>
          <a:prstGeom prst="rect">
            <a:avLst/>
          </a:prstGeom>
          <a:noFill/>
          <a:ln/>
        </p:spPr>
        <p:txBody>
          <a:bodyPr wrap="square" lIns="0" tIns="0" rIns="0" bIns="0" rtlCol="0" anchor="ctr"/>
          <a:lstStyle/>
          <a:p>
            <a:pPr indent="0" marL="0">
              <a:buNone/>
            </a:pPr>
            <a:r>
              <a:rPr lang="en-US" sz="1300" b="1" dirty="0">
                <a:solidFill>
                  <a:srgbClr val="D55E29"/>
                </a:solidFill>
                <a:latin typeface="Cambria" pitchFamily="34" charset="0"/>
                <a:ea typeface="Cambria" pitchFamily="34" charset="-122"/>
                <a:cs typeface="Cambria" pitchFamily="34" charset="-120"/>
              </a:rPr>
              <a:t>Сұрау бойынша</a:t>
            </a:r>
            <a:endParaRPr lang="en-US" sz="1300" dirty="0"/>
          </a:p>
        </p:txBody>
      </p:sp>
      <p:sp>
        <p:nvSpPr>
          <p:cNvPr id="8" name="Text 6"/>
          <p:cNvSpPr txBox="1"/>
          <p:nvPr/>
        </p:nvSpPr>
        <p:spPr>
          <a:xfrm>
            <a:off x="777240" y="2514600"/>
            <a:ext cx="3474720" cy="731520"/>
          </a:xfrm>
          <a:prstGeom prst="rect">
            <a:avLst/>
          </a:prstGeom>
          <a:noFill/>
          <a:ln/>
        </p:spPr>
        <p:txBody>
          <a:bodyPr wrap="square" lIns="0" tIns="0" rIns="0" bIns="0" rtlCol="0" anchor="ctr"/>
          <a:lstStyle/>
          <a:p>
            <a:pPr indent="0" marL="0">
              <a:buNone/>
            </a:pPr>
            <a:r>
              <a:rPr lang="en-US" sz="1100" dirty="0">
                <a:solidFill>
                  <a:srgbClr val="25282B"/>
                </a:solidFill>
                <a:latin typeface="Calibri" pitchFamily="34" charset="0"/>
                <a:ea typeface="Calibri" pitchFamily="34" charset="-122"/>
                <a:cs typeface="Calibri" pitchFamily="34" charset="-120"/>
              </a:rPr>
              <a:t>«балама», «аналог», «замен», «alternative», «replacement», «substitute» кілт сөздері сұрауда кездеседі</a:t>
            </a:r>
            <a:endParaRPr lang="en-US" sz="1100" dirty="0"/>
          </a:p>
        </p:txBody>
      </p:sp>
      <p:sp>
        <p:nvSpPr>
          <p:cNvPr id="9" name="Shape 7"/>
          <p:cNvSpPr/>
          <p:nvPr/>
        </p:nvSpPr>
        <p:spPr>
          <a:xfrm>
            <a:off x="4709160" y="2057400"/>
            <a:ext cx="3886200" cy="1234440"/>
          </a:xfrm>
          <a:prstGeom prst="roundRect">
            <a:avLst>
              <a:gd name="adj" fmla="val 5926"/>
            </a:avLst>
          </a:prstGeom>
          <a:solidFill>
            <a:srgbClr val="FFFFFF"/>
          </a:solidFill>
          <a:ln w="12700">
            <a:solidFill>
              <a:srgbClr val="E8E9EB"/>
            </a:solidFill>
            <a:prstDash val="solid"/>
          </a:ln>
        </p:spPr>
      </p:sp>
      <p:sp>
        <p:nvSpPr>
          <p:cNvPr id="10" name="Text 8"/>
          <p:cNvSpPr txBox="1"/>
          <p:nvPr/>
        </p:nvSpPr>
        <p:spPr>
          <a:xfrm>
            <a:off x="4937760" y="2194560"/>
            <a:ext cx="3474720" cy="274320"/>
          </a:xfrm>
          <a:prstGeom prst="rect">
            <a:avLst/>
          </a:prstGeom>
          <a:noFill/>
          <a:ln/>
        </p:spPr>
        <p:txBody>
          <a:bodyPr wrap="square" lIns="0" tIns="0" rIns="0" bIns="0" rtlCol="0" anchor="ctr"/>
          <a:lstStyle/>
          <a:p>
            <a:pPr indent="0" marL="0">
              <a:buNone/>
            </a:pPr>
            <a:r>
              <a:rPr lang="en-US" sz="1300" b="1" dirty="0">
                <a:solidFill>
                  <a:srgbClr val="D55E29"/>
                </a:solidFill>
                <a:latin typeface="Cambria" pitchFamily="34" charset="0"/>
                <a:ea typeface="Cambria" pitchFamily="34" charset="-122"/>
                <a:cs typeface="Cambria" pitchFamily="34" charset="-120"/>
              </a:rPr>
              <a:t>Қалдық бойынша</a:t>
            </a:r>
            <a:endParaRPr lang="en-US" sz="1300" dirty="0"/>
          </a:p>
        </p:txBody>
      </p:sp>
      <p:sp>
        <p:nvSpPr>
          <p:cNvPr id="11" name="Text 9"/>
          <p:cNvSpPr txBox="1"/>
          <p:nvPr/>
        </p:nvSpPr>
        <p:spPr>
          <a:xfrm>
            <a:off x="4937760" y="2514600"/>
            <a:ext cx="3474720" cy="731520"/>
          </a:xfrm>
          <a:prstGeom prst="rect">
            <a:avLst/>
          </a:prstGeom>
          <a:noFill/>
          <a:ln/>
        </p:spPr>
        <p:txBody>
          <a:bodyPr wrap="square" lIns="0" tIns="0" rIns="0" bIns="0" rtlCol="0" anchor="ctr"/>
          <a:lstStyle/>
          <a:p>
            <a:pPr indent="0" marL="0">
              <a:buNone/>
            </a:pPr>
            <a:r>
              <a:rPr lang="en-US" sz="1100" dirty="0">
                <a:solidFill>
                  <a:srgbClr val="25282B"/>
                </a:solidFill>
                <a:latin typeface="Calibri" pitchFamily="34" charset="0"/>
                <a:ea typeface="Calibri" pitchFamily="34" charset="-122"/>
                <a:cs typeface="Calibri" pitchFamily="34" charset="-120"/>
              </a:rPr>
              <a:t>Таңдалған тауардың саны нөлге тең (p.quantity === 0)</a:t>
            </a:r>
            <a:endParaRPr lang="en-US" sz="1100" dirty="0"/>
          </a:p>
        </p:txBody>
      </p:sp>
      <p:sp>
        <p:nvSpPr>
          <p:cNvPr id="12" name="Shape 10"/>
          <p:cNvSpPr/>
          <p:nvPr/>
        </p:nvSpPr>
        <p:spPr>
          <a:xfrm>
            <a:off x="4361688" y="2468880"/>
            <a:ext cx="420624" cy="420624"/>
          </a:xfrm>
          <a:prstGeom prst="ellipse">
            <a:avLst/>
          </a:prstGeom>
          <a:solidFill>
            <a:srgbClr val="F8F9FB"/>
          </a:solidFill>
          <a:ln w="12700">
            <a:solidFill>
              <a:srgbClr val="E8E9EB"/>
            </a:solidFill>
            <a:prstDash val="solid"/>
          </a:ln>
        </p:spPr>
      </p:sp>
      <p:sp>
        <p:nvSpPr>
          <p:cNvPr id="13" name="Text 11"/>
          <p:cNvSpPr txBox="1"/>
          <p:nvPr/>
        </p:nvSpPr>
        <p:spPr>
          <a:xfrm>
            <a:off x="4041648" y="2468880"/>
            <a:ext cx="1060704" cy="420624"/>
          </a:xfrm>
          <a:prstGeom prst="rect">
            <a:avLst/>
          </a:prstGeom>
          <a:noFill/>
          <a:ln/>
        </p:spPr>
        <p:txBody>
          <a:bodyPr wrap="square" lIns="0" tIns="0" rIns="0" bIns="0" rtlCol="0" anchor="ctr"/>
          <a:lstStyle/>
          <a:p>
            <a:pPr algn="ctr" indent="0" marL="0">
              <a:buNone/>
            </a:pPr>
            <a:r>
              <a:rPr lang="en-US" sz="700" b="1" dirty="0">
                <a:solidFill>
                  <a:srgbClr val="888D94"/>
                </a:solidFill>
                <a:latin typeface="Calibri" pitchFamily="34" charset="0"/>
                <a:ea typeface="Calibri" pitchFamily="34" charset="-122"/>
                <a:cs typeface="Calibri" pitchFamily="34" charset="-120"/>
              </a:rPr>
              <a:t>НЕМЕСЕ</a:t>
            </a:r>
            <a:endParaRPr lang="en-US" sz="700" dirty="0"/>
          </a:p>
        </p:txBody>
      </p:sp>
      <p:sp>
        <p:nvSpPr>
          <p:cNvPr id="14" name="Shape 12"/>
          <p:cNvSpPr/>
          <p:nvPr/>
        </p:nvSpPr>
        <p:spPr>
          <a:xfrm>
            <a:off x="548640" y="3520440"/>
            <a:ext cx="8046720" cy="777240"/>
          </a:xfrm>
          <a:prstGeom prst="roundRect">
            <a:avLst>
              <a:gd name="adj" fmla="val 7059"/>
            </a:avLst>
          </a:prstGeom>
          <a:solidFill>
            <a:srgbClr val="25282B"/>
          </a:solidFill>
          <a:ln/>
        </p:spPr>
      </p:sp>
      <p:sp>
        <p:nvSpPr>
          <p:cNvPr id="15" name="Text 13"/>
          <p:cNvSpPr txBox="1"/>
          <p:nvPr/>
        </p:nvSpPr>
        <p:spPr>
          <a:xfrm>
            <a:off x="777240" y="3520440"/>
            <a:ext cx="7589520" cy="777240"/>
          </a:xfrm>
          <a:prstGeom prst="rect">
            <a:avLst/>
          </a:prstGeom>
          <a:noFill/>
          <a:ln/>
        </p:spPr>
        <p:txBody>
          <a:bodyPr wrap="square" lIns="0" tIns="0" rIns="0" bIns="0" rtlCol="0" anchor="ctr"/>
          <a:lstStyle/>
          <a:p>
            <a:pPr indent="0" marL="0">
              <a:buNone/>
            </a:pPr>
            <a:r>
              <a:rPr lang="en-US" sz="1150" b="1" dirty="0">
                <a:solidFill>
                  <a:srgbClr val="E66D36"/>
                </a:solidFill>
                <a:latin typeface="Calibri" pitchFamily="34" charset="0"/>
                <a:ea typeface="Calibri" pitchFamily="34" charset="-122"/>
                <a:cs typeface="Calibri" pitchFamily="34" charset="-120"/>
              </a:rPr>
              <a:t>|| </a:t>
            </a:r>
            <a:pPr indent="0" marL="0">
              <a:buNone/>
            </a:pPr>
            <a:r>
              <a:rPr lang="en-US" sz="1150" dirty="0">
                <a:solidFill>
                  <a:srgbClr val="CFD3D8"/>
                </a:solidFill>
                <a:latin typeface="Calibri" pitchFamily="34" charset="0"/>
                <a:ea typeface="Calibri" pitchFamily="34" charset="-122"/>
                <a:cs typeface="Calibri" pitchFamily="34" charset="-120"/>
              </a:rPr>
              <a:t>операторы — екі шарттың кемінде біреуі орындалса жеткілікті. Осыдан кейін </a:t>
            </a:r>
            <a:pPr indent="0" marL="0">
              <a:buNone/>
            </a:pPr>
            <a:r>
              <a:rPr lang="en-US" sz="1150" dirty="0">
                <a:solidFill>
                  <a:srgbClr val="E66D36"/>
                </a:solidFill>
                <a:latin typeface="Courier New" pitchFamily="34" charset="0"/>
                <a:ea typeface="Courier New" pitchFamily="34" charset="-122"/>
                <a:cs typeface="Courier New" pitchFamily="34" charset="-120"/>
              </a:rPr>
              <a:t>alternatives(p)</a:t>
            </a:r>
            <a:pPr indent="0" marL="0">
              <a:buNone/>
            </a:pPr>
            <a:r>
              <a:rPr lang="en-US" sz="1150" dirty="0">
                <a:solidFill>
                  <a:srgbClr val="CFD3D8"/>
                </a:solidFill>
                <a:latin typeface="Calibri" pitchFamily="34" charset="0"/>
                <a:ea typeface="Calibri" pitchFamily="34" charset="-122"/>
                <a:cs typeface="Calibri" pitchFamily="34" charset="-120"/>
              </a:rPr>
              <a:t> шақырылып, нәтиже a айнымалысына жазылады.</a:t>
            </a:r>
            <a:endParaRPr lang="en-US" sz="1150" dirty="0"/>
          </a:p>
        </p:txBody>
      </p:sp>
      <p:sp>
        <p:nvSpPr>
          <p:cNvPr id="16" name="Text 14"/>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ЛОГИКА</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Балама тауар туралы жауап қалай құралады?</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737360"/>
            <a:ext cx="1847088" cy="2194560"/>
          </a:xfrm>
          <a:prstGeom prst="roundRect">
            <a:avLst>
              <a:gd name="adj" fmla="val 3960"/>
            </a:avLst>
          </a:prstGeom>
          <a:solidFill>
            <a:srgbClr val="FFFFFF"/>
          </a:solidFill>
          <a:ln w="12700">
            <a:solidFill>
              <a:srgbClr val="E8E9EB"/>
            </a:solidFill>
            <a:prstDash val="solid"/>
          </a:ln>
        </p:spPr>
      </p:sp>
      <p:sp>
        <p:nvSpPr>
          <p:cNvPr id="6" name="Text 4"/>
          <p:cNvSpPr txBox="1"/>
          <p:nvPr/>
        </p:nvSpPr>
        <p:spPr>
          <a:xfrm>
            <a:off x="685800" y="1874520"/>
            <a:ext cx="457200" cy="365760"/>
          </a:xfrm>
          <a:prstGeom prst="rect">
            <a:avLst/>
          </a:prstGeom>
          <a:noFill/>
          <a:ln/>
        </p:spPr>
        <p:txBody>
          <a:bodyPr wrap="square" lIns="0" tIns="0" rIns="0" bIns="0" rtlCol="0" anchor="ctr"/>
          <a:lstStyle/>
          <a:p>
            <a:pPr indent="0" marL="0">
              <a:buNone/>
            </a:pPr>
            <a:r>
              <a:rPr lang="en-US" sz="2000" b="1" dirty="0">
                <a:solidFill>
                  <a:srgbClr val="E66D36"/>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85800" y="2286000"/>
            <a:ext cx="1572768" cy="365760"/>
          </a:xfrm>
          <a:prstGeom prst="rect">
            <a:avLst/>
          </a:prstGeom>
          <a:noFill/>
          <a:ln/>
        </p:spPr>
        <p:txBody>
          <a:bodyPr wrap="square" lIns="0" tIns="0" rIns="0" bIns="0" rtlCol="0" anchor="ctr"/>
          <a:lstStyle/>
          <a:p>
            <a:pPr indent="0" marL="0">
              <a:buNone/>
            </a:pPr>
            <a:r>
              <a:rPr lang="en-US" sz="1100" b="1" dirty="0">
                <a:solidFill>
                  <a:srgbClr val="25282B"/>
                </a:solidFill>
                <a:latin typeface="Courier New" pitchFamily="34" charset="0"/>
                <a:ea typeface="Courier New" pitchFamily="34" charset="-122"/>
                <a:cs typeface="Courier New" pitchFamily="34" charset="-120"/>
              </a:rPr>
              <a:t>a.length</a:t>
            </a:r>
            <a:endParaRPr lang="en-US" sz="1100" dirty="0"/>
          </a:p>
        </p:txBody>
      </p:sp>
      <p:sp>
        <p:nvSpPr>
          <p:cNvPr id="8" name="Text 6"/>
          <p:cNvSpPr txBox="1"/>
          <p:nvPr/>
        </p:nvSpPr>
        <p:spPr>
          <a:xfrm>
            <a:off x="685800" y="2697480"/>
            <a:ext cx="1572768" cy="1143000"/>
          </a:xfrm>
          <a:prstGeom prst="rect">
            <a:avLst/>
          </a:prstGeom>
          <a:noFill/>
          <a:ln/>
        </p:spPr>
        <p:txBody>
          <a:bodyPr wrap="square" lIns="0" tIns="0" rIns="0" bIns="0" rtlCol="0" anchor="ctr"/>
          <a:lstStyle/>
          <a:p>
            <a:pPr indent="0" marL="0">
              <a:buNone/>
            </a:pPr>
            <a:r>
              <a:rPr lang="en-US" sz="1000" dirty="0">
                <a:solidFill>
                  <a:srgbClr val="888D94"/>
                </a:solidFill>
                <a:latin typeface="Calibri" pitchFamily="34" charset="0"/>
                <a:ea typeface="Calibri" pitchFamily="34" charset="-122"/>
                <a:cs typeface="Calibri" pitchFamily="34" charset="-120"/>
              </a:rPr>
              <a:t>Баламалардың бар-жоғы тексеріледі</a:t>
            </a:r>
            <a:endParaRPr lang="en-US" sz="1000" dirty="0"/>
          </a:p>
        </p:txBody>
      </p:sp>
      <p:sp>
        <p:nvSpPr>
          <p:cNvPr id="9" name="Text 7"/>
          <p:cNvSpPr txBox="1"/>
          <p:nvPr/>
        </p:nvSpPr>
        <p:spPr>
          <a:xfrm>
            <a:off x="2395728" y="2606040"/>
            <a:ext cx="164592" cy="365760"/>
          </a:xfrm>
          <a:prstGeom prst="rect">
            <a:avLst/>
          </a:prstGeom>
          <a:noFill/>
          <a:ln/>
        </p:spPr>
        <p:txBody>
          <a:bodyPr wrap="square" lIns="0" tIns="0" rIns="0" bIns="0" rtlCol="0" anchor="ctr"/>
          <a:lstStyle/>
          <a:p>
            <a:pPr algn="ctr" indent="0" marL="0">
              <a:buNone/>
            </a:pPr>
            <a:r>
              <a:rPr lang="en-US" sz="1600" b="1" dirty="0">
                <a:solidFill>
                  <a:srgbClr val="E66D36"/>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514600" y="1737360"/>
            <a:ext cx="1847088" cy="2194560"/>
          </a:xfrm>
          <a:prstGeom prst="roundRect">
            <a:avLst>
              <a:gd name="adj" fmla="val 3960"/>
            </a:avLst>
          </a:prstGeom>
          <a:solidFill>
            <a:srgbClr val="FFFFFF"/>
          </a:solidFill>
          <a:ln w="12700">
            <a:solidFill>
              <a:srgbClr val="E8E9EB"/>
            </a:solidFill>
            <a:prstDash val="solid"/>
          </a:ln>
        </p:spPr>
      </p:sp>
      <p:sp>
        <p:nvSpPr>
          <p:cNvPr id="11" name="Text 9"/>
          <p:cNvSpPr txBox="1"/>
          <p:nvPr/>
        </p:nvSpPr>
        <p:spPr>
          <a:xfrm>
            <a:off x="2651760" y="1874520"/>
            <a:ext cx="457200" cy="365760"/>
          </a:xfrm>
          <a:prstGeom prst="rect">
            <a:avLst/>
          </a:prstGeom>
          <a:noFill/>
          <a:ln/>
        </p:spPr>
        <p:txBody>
          <a:bodyPr wrap="square" lIns="0" tIns="0" rIns="0" bIns="0" rtlCol="0" anchor="ctr"/>
          <a:lstStyle/>
          <a:p>
            <a:pPr indent="0" marL="0">
              <a:buNone/>
            </a:pPr>
            <a:r>
              <a:rPr lang="en-US" sz="2000" b="1" dirty="0">
                <a:solidFill>
                  <a:srgbClr val="E66D36"/>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2651760" y="2286000"/>
            <a:ext cx="1572768" cy="365760"/>
          </a:xfrm>
          <a:prstGeom prst="rect">
            <a:avLst/>
          </a:prstGeom>
          <a:noFill/>
          <a:ln/>
        </p:spPr>
        <p:txBody>
          <a:bodyPr wrap="square" lIns="0" tIns="0" rIns="0" bIns="0" rtlCol="0" anchor="ctr"/>
          <a:lstStyle/>
          <a:p>
            <a:pPr indent="0" marL="0">
              <a:buNone/>
            </a:pPr>
            <a:r>
              <a:rPr lang="en-US" sz="1100" b="1" dirty="0">
                <a:solidFill>
                  <a:srgbClr val="25282B"/>
                </a:solidFill>
                <a:latin typeface="Courier New" pitchFamily="34" charset="0"/>
                <a:ea typeface="Courier New" pitchFamily="34" charset="-122"/>
                <a:cs typeface="Courier New" pitchFamily="34" charset="-120"/>
              </a:rPr>
              <a:t>.map()</a:t>
            </a:r>
            <a:endParaRPr lang="en-US" sz="1100" dirty="0"/>
          </a:p>
        </p:txBody>
      </p:sp>
      <p:sp>
        <p:nvSpPr>
          <p:cNvPr id="13" name="Text 11"/>
          <p:cNvSpPr txBox="1"/>
          <p:nvPr/>
        </p:nvSpPr>
        <p:spPr>
          <a:xfrm>
            <a:off x="2651760" y="2697480"/>
            <a:ext cx="1572768" cy="1143000"/>
          </a:xfrm>
          <a:prstGeom prst="rect">
            <a:avLst/>
          </a:prstGeom>
          <a:noFill/>
          <a:ln/>
        </p:spPr>
        <p:txBody>
          <a:bodyPr wrap="square" lIns="0" tIns="0" rIns="0" bIns="0" rtlCol="0" anchor="ctr"/>
          <a:lstStyle/>
          <a:p>
            <a:pPr indent="0" marL="0">
              <a:buNone/>
            </a:pPr>
            <a:r>
              <a:rPr lang="en-US" sz="1000" dirty="0">
                <a:solidFill>
                  <a:srgbClr val="888D94"/>
                </a:solidFill>
                <a:latin typeface="Calibri" pitchFamily="34" charset="0"/>
                <a:ea typeface="Calibri" pitchFamily="34" charset="-122"/>
                <a:cs typeface="Calibri" pitchFamily="34" charset="-120"/>
              </a:rPr>
              <a:t>Әр тауарға атау, баға, түсіндірме және қалдық енгізілген сипаттама құрылады</a:t>
            </a:r>
            <a:endParaRPr lang="en-US" sz="1000" dirty="0"/>
          </a:p>
        </p:txBody>
      </p:sp>
      <p:sp>
        <p:nvSpPr>
          <p:cNvPr id="14" name="Text 12"/>
          <p:cNvSpPr txBox="1"/>
          <p:nvPr/>
        </p:nvSpPr>
        <p:spPr>
          <a:xfrm>
            <a:off x="4361688" y="2606040"/>
            <a:ext cx="164592" cy="365760"/>
          </a:xfrm>
          <a:prstGeom prst="rect">
            <a:avLst/>
          </a:prstGeom>
          <a:noFill/>
          <a:ln/>
        </p:spPr>
        <p:txBody>
          <a:bodyPr wrap="square" lIns="0" tIns="0" rIns="0" bIns="0" rtlCol="0" anchor="ctr"/>
          <a:lstStyle/>
          <a:p>
            <a:pPr algn="ctr" indent="0" marL="0">
              <a:buNone/>
            </a:pPr>
            <a:r>
              <a:rPr lang="en-US" sz="1600" b="1" dirty="0">
                <a:solidFill>
                  <a:srgbClr val="E66D36"/>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4480560" y="1737360"/>
            <a:ext cx="1847088" cy="2194560"/>
          </a:xfrm>
          <a:prstGeom prst="roundRect">
            <a:avLst>
              <a:gd name="adj" fmla="val 3960"/>
            </a:avLst>
          </a:prstGeom>
          <a:solidFill>
            <a:srgbClr val="FFFFFF"/>
          </a:solidFill>
          <a:ln w="12700">
            <a:solidFill>
              <a:srgbClr val="E8E9EB"/>
            </a:solidFill>
            <a:prstDash val="solid"/>
          </a:ln>
        </p:spPr>
      </p:sp>
      <p:sp>
        <p:nvSpPr>
          <p:cNvPr id="16" name="Text 14"/>
          <p:cNvSpPr txBox="1"/>
          <p:nvPr/>
        </p:nvSpPr>
        <p:spPr>
          <a:xfrm>
            <a:off x="4617720" y="1874520"/>
            <a:ext cx="457200" cy="365760"/>
          </a:xfrm>
          <a:prstGeom prst="rect">
            <a:avLst/>
          </a:prstGeom>
          <a:noFill/>
          <a:ln/>
        </p:spPr>
        <p:txBody>
          <a:bodyPr wrap="square" lIns="0" tIns="0" rIns="0" bIns="0" rtlCol="0" anchor="ctr"/>
          <a:lstStyle/>
          <a:p>
            <a:pPr indent="0" marL="0">
              <a:buNone/>
            </a:pPr>
            <a:r>
              <a:rPr lang="en-US" sz="2000" b="1" dirty="0">
                <a:solidFill>
                  <a:srgbClr val="E66D36"/>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4617720" y="2286000"/>
            <a:ext cx="1572768" cy="365760"/>
          </a:xfrm>
          <a:prstGeom prst="rect">
            <a:avLst/>
          </a:prstGeom>
          <a:noFill/>
          <a:ln/>
        </p:spPr>
        <p:txBody>
          <a:bodyPr wrap="square" lIns="0" tIns="0" rIns="0" bIns="0" rtlCol="0" anchor="ctr"/>
          <a:lstStyle/>
          <a:p>
            <a:pPr indent="0" marL="0">
              <a:buNone/>
            </a:pPr>
            <a:r>
              <a:rPr lang="en-US" sz="1100" b="1" dirty="0">
                <a:solidFill>
                  <a:srgbClr val="25282B"/>
                </a:solidFill>
                <a:latin typeface="Courier New" pitchFamily="34" charset="0"/>
                <a:ea typeface="Courier New" pitchFamily="34" charset="-122"/>
                <a:cs typeface="Courier New" pitchFamily="34" charset="-120"/>
              </a:rPr>
              <a:t>.join('\n\n')</a:t>
            </a:r>
            <a:endParaRPr lang="en-US" sz="1100" dirty="0"/>
          </a:p>
        </p:txBody>
      </p:sp>
      <p:sp>
        <p:nvSpPr>
          <p:cNvPr id="18" name="Text 16"/>
          <p:cNvSpPr txBox="1"/>
          <p:nvPr/>
        </p:nvSpPr>
        <p:spPr>
          <a:xfrm>
            <a:off x="4617720" y="2697480"/>
            <a:ext cx="1572768" cy="1143000"/>
          </a:xfrm>
          <a:prstGeom prst="rect">
            <a:avLst/>
          </a:prstGeom>
          <a:noFill/>
          <a:ln/>
        </p:spPr>
        <p:txBody>
          <a:bodyPr wrap="square" lIns="0" tIns="0" rIns="0" bIns="0" rtlCol="0" anchor="ctr"/>
          <a:lstStyle/>
          <a:p>
            <a:pPr indent="0" marL="0">
              <a:buNone/>
            </a:pPr>
            <a:r>
              <a:rPr lang="en-US" sz="1000" dirty="0">
                <a:solidFill>
                  <a:srgbClr val="888D94"/>
                </a:solidFill>
                <a:latin typeface="Calibri" pitchFamily="34" charset="0"/>
                <a:ea typeface="Calibri" pitchFamily="34" charset="-122"/>
                <a:cs typeface="Calibri" pitchFamily="34" charset="-120"/>
              </a:rPr>
              <a:t>Сипаттамалар бос жолмен бөлініп, оқуға ыңғайлы жауапқа біріктіріледі</a:t>
            </a:r>
            <a:endParaRPr lang="en-US" sz="1000" dirty="0"/>
          </a:p>
        </p:txBody>
      </p:sp>
      <p:sp>
        <p:nvSpPr>
          <p:cNvPr id="19" name="Text 17"/>
          <p:cNvSpPr txBox="1"/>
          <p:nvPr/>
        </p:nvSpPr>
        <p:spPr>
          <a:xfrm>
            <a:off x="6327648" y="2606040"/>
            <a:ext cx="164592" cy="365760"/>
          </a:xfrm>
          <a:prstGeom prst="rect">
            <a:avLst/>
          </a:prstGeom>
          <a:noFill/>
          <a:ln/>
        </p:spPr>
        <p:txBody>
          <a:bodyPr wrap="square" lIns="0" tIns="0" rIns="0" bIns="0" rtlCol="0" anchor="ctr"/>
          <a:lstStyle/>
          <a:p>
            <a:pPr algn="ctr" indent="0" marL="0">
              <a:buNone/>
            </a:pPr>
            <a:r>
              <a:rPr lang="en-US" sz="1600" b="1" dirty="0">
                <a:solidFill>
                  <a:srgbClr val="E66D36"/>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6446520" y="1737360"/>
            <a:ext cx="1847088" cy="2194560"/>
          </a:xfrm>
          <a:prstGeom prst="roundRect">
            <a:avLst>
              <a:gd name="adj" fmla="val 3960"/>
            </a:avLst>
          </a:prstGeom>
          <a:solidFill>
            <a:srgbClr val="E66D36"/>
          </a:solidFill>
          <a:ln w="12700">
            <a:solidFill>
              <a:srgbClr val="E8E9EB"/>
            </a:solidFill>
            <a:prstDash val="solid"/>
          </a:ln>
        </p:spPr>
      </p:sp>
      <p:sp>
        <p:nvSpPr>
          <p:cNvPr id="21" name="Text 19"/>
          <p:cNvSpPr txBox="1"/>
          <p:nvPr/>
        </p:nvSpPr>
        <p:spPr>
          <a:xfrm>
            <a:off x="6583680" y="1874520"/>
            <a:ext cx="4572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6583680" y="2286000"/>
            <a:ext cx="1572768" cy="365760"/>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answer(...)</a:t>
            </a:r>
            <a:endParaRPr lang="en-US" sz="1100" dirty="0"/>
          </a:p>
        </p:txBody>
      </p:sp>
      <p:sp>
        <p:nvSpPr>
          <p:cNvPr id="23" name="Text 21"/>
          <p:cNvSpPr txBox="1"/>
          <p:nvPr/>
        </p:nvSpPr>
        <p:spPr>
          <a:xfrm>
            <a:off x="6583680" y="2697480"/>
            <a:ext cx="1572768" cy="11430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Ұсынылған тауарлардың ID-лерімен бірге дайын жауап қайтарылады</a:t>
            </a:r>
            <a:endParaRPr lang="en-US" sz="1000" dirty="0"/>
          </a:p>
        </p:txBody>
      </p:sp>
      <p:sp>
        <p:nvSpPr>
          <p:cNvPr id="24" name="Text 22"/>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150" i="1" dirty="0">
                <a:solidFill>
                  <a:srgbClr val="888D94"/>
                </a:solidFill>
                <a:latin typeface="Calibri" pitchFamily="34" charset="0"/>
                <a:ea typeface="Calibri" pitchFamily="34" charset="-122"/>
                <a:cs typeface="Calibri" pitchFamily="34" charset="-120"/>
              </a:rPr>
              <a:t>Балама табылмаса, пайдаланушыға менеджерден нақтылау сұрау ұсынылады.</a:t>
            </a:r>
            <a:endParaRPr lang="en-US" sz="1150" dirty="0"/>
          </a:p>
        </p:txBody>
      </p:sp>
      <p:sp>
        <p:nvSpPr>
          <p:cNvPr id="25" name="Text 23"/>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ЛОКАЛИЗАЦИЯ</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Үш тілде жауап беру</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600200"/>
            <a:ext cx="2468880" cy="960120"/>
          </a:xfrm>
          <a:prstGeom prst="roundRect">
            <a:avLst>
              <a:gd name="adj" fmla="val 7619"/>
            </a:avLst>
          </a:prstGeom>
          <a:solidFill>
            <a:srgbClr val="E66D36"/>
          </a:solidFill>
          <a:ln/>
        </p:spPr>
      </p:sp>
      <p:sp>
        <p:nvSpPr>
          <p:cNvPr id="6" name="Text 4"/>
          <p:cNvSpPr txBox="1"/>
          <p:nvPr/>
        </p:nvSpPr>
        <p:spPr>
          <a:xfrm>
            <a:off x="548640" y="1600200"/>
            <a:ext cx="246888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ҚАЗ</a:t>
            </a:r>
            <a:endParaRPr lang="en-US" sz="2200" dirty="0"/>
          </a:p>
        </p:txBody>
      </p:sp>
      <p:sp>
        <p:nvSpPr>
          <p:cNvPr id="7" name="Shape 5"/>
          <p:cNvSpPr/>
          <p:nvPr/>
        </p:nvSpPr>
        <p:spPr>
          <a:xfrm>
            <a:off x="3246120" y="1600200"/>
            <a:ext cx="2468880" cy="960120"/>
          </a:xfrm>
          <a:prstGeom prst="roundRect">
            <a:avLst>
              <a:gd name="adj" fmla="val 7619"/>
            </a:avLst>
          </a:prstGeom>
          <a:solidFill>
            <a:srgbClr val="829BD0"/>
          </a:solidFill>
          <a:ln/>
        </p:spPr>
      </p:sp>
      <p:sp>
        <p:nvSpPr>
          <p:cNvPr id="8" name="Text 6"/>
          <p:cNvSpPr txBox="1"/>
          <p:nvPr/>
        </p:nvSpPr>
        <p:spPr>
          <a:xfrm>
            <a:off x="3246120" y="1600200"/>
            <a:ext cx="246888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РУС</a:t>
            </a:r>
            <a:endParaRPr lang="en-US" sz="2200" dirty="0"/>
          </a:p>
        </p:txBody>
      </p:sp>
      <p:sp>
        <p:nvSpPr>
          <p:cNvPr id="9" name="Shape 7"/>
          <p:cNvSpPr/>
          <p:nvPr/>
        </p:nvSpPr>
        <p:spPr>
          <a:xfrm>
            <a:off x="5943600" y="1600200"/>
            <a:ext cx="2468880" cy="960120"/>
          </a:xfrm>
          <a:prstGeom prst="roundRect">
            <a:avLst>
              <a:gd name="adj" fmla="val 7619"/>
            </a:avLst>
          </a:prstGeom>
          <a:solidFill>
            <a:srgbClr val="A392C8"/>
          </a:solidFill>
          <a:ln/>
        </p:spPr>
      </p:sp>
      <p:sp>
        <p:nvSpPr>
          <p:cNvPr id="10" name="Text 8"/>
          <p:cNvSpPr txBox="1"/>
          <p:nvPr/>
        </p:nvSpPr>
        <p:spPr>
          <a:xfrm>
            <a:off x="5943600" y="1600200"/>
            <a:ext cx="246888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ENG</a:t>
            </a:r>
            <a:endParaRPr lang="en-US" sz="2200" dirty="0"/>
          </a:p>
        </p:txBody>
      </p:sp>
      <p:sp>
        <p:nvSpPr>
          <p:cNvPr id="11" name="Text 9"/>
          <p:cNvSpPr txBox="1"/>
          <p:nvPr/>
        </p:nvSpPr>
        <p:spPr>
          <a:xfrm>
            <a:off x="548640" y="2743200"/>
            <a:ext cx="8046720" cy="411480"/>
          </a:xfrm>
          <a:prstGeom prst="rect">
            <a:avLst/>
          </a:prstGeom>
          <a:noFill/>
          <a:ln/>
        </p:spPr>
        <p:txBody>
          <a:bodyPr wrap="square" lIns="0" tIns="0" rIns="0" bIns="0" rtlCol="0" anchor="ctr"/>
          <a:lstStyle/>
          <a:p>
            <a:pPr indent="0" marL="0">
              <a:buNone/>
            </a:pPr>
            <a:r>
              <a:rPr lang="en-US" sz="1250" b="1" dirty="0">
                <a:solidFill>
                  <a:srgbClr val="E66D36"/>
                </a:solidFill>
                <a:latin typeface="Courier New" pitchFamily="34" charset="0"/>
                <a:ea typeface="Courier New" pitchFamily="34" charset="-122"/>
                <a:cs typeface="Courier New" pitchFamily="34" charset="-120"/>
              </a:rPr>
              <a:t>pick(l, </a:t>
            </a:r>
            <a:pPr indent="0" marL="0">
              <a:buNone/>
            </a:pPr>
            <a:r>
              <a:rPr lang="en-US" sz="1250" dirty="0">
                <a:solidFill>
                  <a:srgbClr val="25282B"/>
                </a:solidFill>
                <a:latin typeface="Courier New" pitchFamily="34" charset="0"/>
                <a:ea typeface="Courier New" pitchFamily="34" charset="-122"/>
                <a:cs typeface="Courier New" pitchFamily="34" charset="-120"/>
              </a:rPr>
              <a:t>қазақшаМәтін, орысшаМәтін, ағылшыншаМәтін</a:t>
            </a:r>
            <a:pPr indent="0" marL="0">
              <a:buNone/>
            </a:pPr>
            <a:r>
              <a:rPr lang="en-US" sz="1250" b="1" dirty="0">
                <a:solidFill>
                  <a:srgbClr val="E66D36"/>
                </a:solidFill>
                <a:latin typeface="Courier New" pitchFamily="34" charset="0"/>
                <a:ea typeface="Courier New" pitchFamily="34" charset="-122"/>
                <a:cs typeface="Courier New" pitchFamily="34" charset="-120"/>
              </a:rPr>
              <a:t>)</a:t>
            </a:r>
            <a:endParaRPr lang="en-US" sz="1250" dirty="0"/>
          </a:p>
        </p:txBody>
      </p:sp>
      <p:sp>
        <p:nvSpPr>
          <p:cNvPr id="12" name="Text 10"/>
          <p:cNvSpPr txBox="1"/>
          <p:nvPr/>
        </p:nvSpPr>
        <p:spPr>
          <a:xfrm>
            <a:off x="548640" y="3291840"/>
            <a:ext cx="8046720" cy="1280160"/>
          </a:xfrm>
          <a:prstGeom prst="rect">
            <a:avLst/>
          </a:prstGeom>
          <a:noFill/>
          <a:ln/>
        </p:spPr>
        <p:txBody>
          <a:bodyPr wrap="square" lIns="0" tIns="0" rIns="0" bIns="0" rtlCol="0" anchor="ctr"/>
          <a:lstStyle/>
          <a:p>
            <a:pPr indent="0" marL="0">
              <a:lnSpc>
                <a:spcPct val="125000"/>
              </a:lnSpc>
              <a:buNone/>
            </a:pPr>
            <a:r>
              <a:rPr lang="en-US" sz="1300" dirty="0">
                <a:solidFill>
                  <a:srgbClr val="25282B"/>
                </a:solidFill>
                <a:latin typeface="Calibri" pitchFamily="34" charset="0"/>
                <a:ea typeface="Calibri" pitchFamily="34" charset="-122"/>
                <a:cs typeface="Calibri" pitchFamily="34" charset="-120"/>
              </a:rPr>
              <a:t>Тілге сай толық жауап осы функция арқылы таңдалады. Ал қысқа аударма белгілері үшін t(l, key) қолданылады — мысалы, out (тауардың жоқтығы), unit (өлшем бірлігі), conflict (деректердегі қайшылық). Жергілікті интерфейсте RU және ҚАЗ тіл ауыстырғыштары көрсетілген.</a:t>
            </a:r>
            <a:endParaRPr lang="en-US" sz="1300" dirty="0"/>
          </a:p>
        </p:txBody>
      </p:sp>
      <p:sp>
        <p:nvSpPr>
          <p:cNvPr id="13" name="Text 11"/>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СЕНІМДІЛІК</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Қолжетімділік пен ескертулер</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Text 3"/>
          <p:cNvSpPr txBox="1"/>
          <p:nvPr/>
        </p:nvSpPr>
        <p:spPr>
          <a:xfrm>
            <a:off x="548640" y="1554480"/>
            <a:ext cx="8046720" cy="365760"/>
          </a:xfrm>
          <a:prstGeom prst="rect">
            <a:avLst/>
          </a:prstGeom>
          <a:noFill/>
          <a:ln/>
        </p:spPr>
        <p:txBody>
          <a:bodyPr wrap="square" lIns="0" tIns="0" rIns="0" bIns="0" rtlCol="0" anchor="ctr"/>
          <a:lstStyle/>
          <a:p>
            <a:pPr indent="0" marL="0">
              <a:buNone/>
            </a:pPr>
            <a:r>
              <a:rPr lang="en-US" sz="1350" dirty="0">
                <a:solidFill>
                  <a:srgbClr val="25282B"/>
                </a:solidFill>
                <a:latin typeface="Calibri" pitchFamily="34" charset="0"/>
                <a:ea typeface="Calibri" pitchFamily="34" charset="-122"/>
                <a:cs typeface="Calibri" pitchFamily="34" charset="-120"/>
              </a:rPr>
              <a:t>Код жауапқа қосымша ақпарат енгізетін үш белгіні бөлек тексереді:</a:t>
            </a:r>
            <a:endParaRPr lang="en-US" sz="1350" dirty="0"/>
          </a:p>
        </p:txBody>
      </p:sp>
      <p:sp>
        <p:nvSpPr>
          <p:cNvPr id="6" name="Shape 4"/>
          <p:cNvSpPr/>
          <p:nvPr/>
        </p:nvSpPr>
        <p:spPr>
          <a:xfrm>
            <a:off x="548640" y="2057400"/>
            <a:ext cx="2578608" cy="1737360"/>
          </a:xfrm>
          <a:prstGeom prst="roundRect">
            <a:avLst>
              <a:gd name="adj" fmla="val 4211"/>
            </a:avLst>
          </a:prstGeom>
          <a:solidFill>
            <a:srgbClr val="FFF1E8"/>
          </a:solidFill>
          <a:ln/>
        </p:spPr>
      </p:sp>
      <p:sp>
        <p:nvSpPr>
          <p:cNvPr id="7" name="Shape 5"/>
          <p:cNvSpPr/>
          <p:nvPr/>
        </p:nvSpPr>
        <p:spPr>
          <a:xfrm>
            <a:off x="777240" y="2286000"/>
            <a:ext cx="402336" cy="402336"/>
          </a:xfrm>
          <a:prstGeom prst="ellipse">
            <a:avLst/>
          </a:prstGeom>
          <a:solidFill>
            <a:srgbClr val="D7885D"/>
          </a:solidFill>
          <a:ln/>
        </p:spPr>
      </p:sp>
      <p:sp>
        <p:nvSpPr>
          <p:cNvPr id="8" name="Text 6"/>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731520" y="2606040"/>
            <a:ext cx="2212848" cy="457200"/>
          </a:xfrm>
          <a:prstGeom prst="rect">
            <a:avLst/>
          </a:prstGeom>
          <a:noFill/>
          <a:ln/>
        </p:spPr>
        <p:txBody>
          <a:bodyPr wrap="square" lIns="0" tIns="0" rIns="0" bIns="0" rtlCol="0" anchor="ctr"/>
          <a:lstStyle/>
          <a:p>
            <a:pPr indent="0" marL="0">
              <a:buNone/>
            </a:pPr>
            <a:r>
              <a:rPr lang="en-US" sz="1200" b="1" dirty="0">
                <a:solidFill>
                  <a:srgbClr val="25282B"/>
                </a:solidFill>
                <a:latin typeface="Courier New" pitchFamily="34" charset="0"/>
                <a:ea typeface="Courier New" pitchFamily="34" charset="-122"/>
                <a:cs typeface="Courier New" pitchFamily="34" charset="-120"/>
              </a:rPr>
              <a:t>p.demo</a:t>
            </a:r>
            <a:endParaRPr lang="en-US" sz="1200" dirty="0"/>
          </a:p>
        </p:txBody>
      </p:sp>
      <p:sp>
        <p:nvSpPr>
          <p:cNvPr id="10" name="Text 8"/>
          <p:cNvSpPr txBox="1"/>
          <p:nvPr/>
        </p:nvSpPr>
        <p:spPr>
          <a:xfrm>
            <a:off x="731520" y="3063240"/>
            <a:ext cx="2212848" cy="685800"/>
          </a:xfrm>
          <a:prstGeom prst="rect">
            <a:avLst/>
          </a:prstGeom>
          <a:noFill/>
          <a:ln/>
        </p:spPr>
        <p:txBody>
          <a:bodyPr wrap="square" lIns="0" tIns="0" rIns="0" bIns="0" rtlCol="0" anchor="ctr"/>
          <a:lstStyle/>
          <a:p>
            <a:pPr indent="0" marL="0">
              <a:buNone/>
            </a:pPr>
            <a:r>
              <a:rPr lang="en-US" sz="1050" dirty="0">
                <a:solidFill>
                  <a:srgbClr val="25282B"/>
                </a:solidFill>
                <a:latin typeface="Calibri" pitchFamily="34" charset="0"/>
                <a:ea typeface="Calibri" pitchFamily="34" charset="-122"/>
                <a:cs typeface="Calibri" pitchFamily="34" charset="-120"/>
              </a:rPr>
              <a:t>Тауар деректерінің демонстрациялық, синтетикалық екенін хабарлайды</a:t>
            </a:r>
            <a:endParaRPr lang="en-US" sz="1050" dirty="0"/>
          </a:p>
        </p:txBody>
      </p:sp>
      <p:sp>
        <p:nvSpPr>
          <p:cNvPr id="11" name="Shape 9"/>
          <p:cNvSpPr/>
          <p:nvPr/>
        </p:nvSpPr>
        <p:spPr>
          <a:xfrm>
            <a:off x="3310128" y="2057400"/>
            <a:ext cx="2578608" cy="1737360"/>
          </a:xfrm>
          <a:prstGeom prst="roundRect">
            <a:avLst>
              <a:gd name="adj" fmla="val 4211"/>
            </a:avLst>
          </a:prstGeom>
          <a:solidFill>
            <a:srgbClr val="EDF2FD"/>
          </a:solidFill>
          <a:ln/>
        </p:spPr>
      </p:sp>
      <p:sp>
        <p:nvSpPr>
          <p:cNvPr id="12" name="Shape 10"/>
          <p:cNvSpPr/>
          <p:nvPr/>
        </p:nvSpPr>
        <p:spPr>
          <a:xfrm>
            <a:off x="3538728" y="2286000"/>
            <a:ext cx="402336" cy="402336"/>
          </a:xfrm>
          <a:prstGeom prst="ellipse">
            <a:avLst/>
          </a:prstGeom>
          <a:solidFill>
            <a:srgbClr val="829BD0"/>
          </a:solidFill>
          <a:ln/>
        </p:spPr>
      </p:sp>
      <p:sp>
        <p:nvSpPr>
          <p:cNvPr id="13" name="Text 11"/>
          <p:cNvSpPr txBox="1"/>
          <p:nvPr/>
        </p:nvSpPr>
        <p:spPr>
          <a:xfrm>
            <a:off x="3538728" y="2286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3493008" y="2606040"/>
            <a:ext cx="2212848" cy="457200"/>
          </a:xfrm>
          <a:prstGeom prst="rect">
            <a:avLst/>
          </a:prstGeom>
          <a:noFill/>
          <a:ln/>
        </p:spPr>
        <p:txBody>
          <a:bodyPr wrap="square" lIns="0" tIns="0" rIns="0" bIns="0" rtlCol="0" anchor="ctr"/>
          <a:lstStyle/>
          <a:p>
            <a:pPr indent="0" marL="0">
              <a:buNone/>
            </a:pPr>
            <a:r>
              <a:rPr lang="en-US" sz="1200" b="1" dirty="0">
                <a:solidFill>
                  <a:srgbClr val="25282B"/>
                </a:solidFill>
                <a:latin typeface="Courier New" pitchFamily="34" charset="0"/>
                <a:ea typeface="Courier New" pitchFamily="34" charset="-122"/>
                <a:cs typeface="Courier New" pitchFamily="34" charset="-120"/>
              </a:rPr>
              <a:t>p.quantity === 0</a:t>
            </a:r>
            <a:endParaRPr lang="en-US" sz="1200" dirty="0"/>
          </a:p>
        </p:txBody>
      </p:sp>
      <p:sp>
        <p:nvSpPr>
          <p:cNvPr id="15" name="Text 13"/>
          <p:cNvSpPr txBox="1"/>
          <p:nvPr/>
        </p:nvSpPr>
        <p:spPr>
          <a:xfrm>
            <a:off x="3493008" y="3063240"/>
            <a:ext cx="2212848" cy="685800"/>
          </a:xfrm>
          <a:prstGeom prst="rect">
            <a:avLst/>
          </a:prstGeom>
          <a:noFill/>
          <a:ln/>
        </p:spPr>
        <p:txBody>
          <a:bodyPr wrap="square" lIns="0" tIns="0" rIns="0" bIns="0" rtlCol="0" anchor="ctr"/>
          <a:lstStyle/>
          <a:p>
            <a:pPr indent="0" marL="0">
              <a:buNone/>
            </a:pPr>
            <a:r>
              <a:rPr lang="en-US" sz="1050" dirty="0">
                <a:solidFill>
                  <a:srgbClr val="25282B"/>
                </a:solidFill>
                <a:latin typeface="Calibri" pitchFamily="34" charset="0"/>
                <a:ea typeface="Calibri" pitchFamily="34" charset="-122"/>
                <a:cs typeface="Calibri" pitchFamily="34" charset="-120"/>
              </a:rPr>
              <a:t>Тауардың қолжетімсіз екенін көрсетеді</a:t>
            </a:r>
            <a:endParaRPr lang="en-US" sz="1050" dirty="0"/>
          </a:p>
        </p:txBody>
      </p:sp>
      <p:sp>
        <p:nvSpPr>
          <p:cNvPr id="16" name="Shape 14"/>
          <p:cNvSpPr/>
          <p:nvPr/>
        </p:nvSpPr>
        <p:spPr>
          <a:xfrm>
            <a:off x="6071616" y="2057400"/>
            <a:ext cx="2578608" cy="1737360"/>
          </a:xfrm>
          <a:prstGeom prst="roundRect">
            <a:avLst>
              <a:gd name="adj" fmla="val 4211"/>
            </a:avLst>
          </a:prstGeom>
          <a:solidFill>
            <a:srgbClr val="F1EEFB"/>
          </a:solidFill>
          <a:ln/>
        </p:spPr>
      </p:sp>
      <p:sp>
        <p:nvSpPr>
          <p:cNvPr id="17" name="Shape 15"/>
          <p:cNvSpPr/>
          <p:nvPr/>
        </p:nvSpPr>
        <p:spPr>
          <a:xfrm>
            <a:off x="6300216" y="2286000"/>
            <a:ext cx="402336" cy="402336"/>
          </a:xfrm>
          <a:prstGeom prst="ellipse">
            <a:avLst/>
          </a:prstGeom>
          <a:solidFill>
            <a:srgbClr val="A392C8"/>
          </a:solidFill>
          <a:ln/>
        </p:spPr>
      </p:sp>
      <p:sp>
        <p:nvSpPr>
          <p:cNvPr id="18" name="Text 16"/>
          <p:cNvSpPr txBox="1"/>
          <p:nvPr/>
        </p:nvSpPr>
        <p:spPr>
          <a:xfrm>
            <a:off x="6300216" y="2286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txBox="1"/>
          <p:nvPr/>
        </p:nvSpPr>
        <p:spPr>
          <a:xfrm>
            <a:off x="6254496" y="2606040"/>
            <a:ext cx="2212848" cy="457200"/>
          </a:xfrm>
          <a:prstGeom prst="rect">
            <a:avLst/>
          </a:prstGeom>
          <a:noFill/>
          <a:ln/>
        </p:spPr>
        <p:txBody>
          <a:bodyPr wrap="square" lIns="0" tIns="0" rIns="0" bIns="0" rtlCol="0" anchor="ctr"/>
          <a:lstStyle/>
          <a:p>
            <a:pPr indent="0" marL="0">
              <a:buNone/>
            </a:pPr>
            <a:r>
              <a:rPr lang="en-US" sz="1200" b="1" dirty="0">
                <a:solidFill>
                  <a:srgbClr val="25282B"/>
                </a:solidFill>
                <a:latin typeface="Courier New" pitchFamily="34" charset="0"/>
                <a:ea typeface="Courier New" pitchFamily="34" charset="-122"/>
                <a:cs typeface="Courier New" pitchFamily="34" charset="-120"/>
              </a:rPr>
              <a:t>p.conflict</a:t>
            </a:r>
            <a:endParaRPr lang="en-US" sz="1200" dirty="0"/>
          </a:p>
        </p:txBody>
      </p:sp>
      <p:sp>
        <p:nvSpPr>
          <p:cNvPr id="20" name="Text 18"/>
          <p:cNvSpPr txBox="1"/>
          <p:nvPr/>
        </p:nvSpPr>
        <p:spPr>
          <a:xfrm>
            <a:off x="6254496" y="3063240"/>
            <a:ext cx="2212848" cy="685800"/>
          </a:xfrm>
          <a:prstGeom prst="rect">
            <a:avLst/>
          </a:prstGeom>
          <a:noFill/>
          <a:ln/>
        </p:spPr>
        <p:txBody>
          <a:bodyPr wrap="square" lIns="0" tIns="0" rIns="0" bIns="0" rtlCol="0" anchor="ctr"/>
          <a:lstStyle/>
          <a:p>
            <a:pPr indent="0" marL="0">
              <a:buNone/>
            </a:pPr>
            <a:r>
              <a:rPr lang="en-US" sz="1050" dirty="0">
                <a:solidFill>
                  <a:srgbClr val="25282B"/>
                </a:solidFill>
                <a:latin typeface="Calibri" pitchFamily="34" charset="0"/>
                <a:ea typeface="Calibri" pitchFamily="34" charset="-122"/>
                <a:cs typeface="Calibri" pitchFamily="34" charset="-120"/>
              </a:rPr>
              <a:t>Деректерде қайшылық белгісі бар екенін ескертеді</a:t>
            </a:r>
            <a:endParaRPr lang="en-US" sz="1050" dirty="0"/>
          </a:p>
        </p:txBody>
      </p:sp>
      <p:sp>
        <p:nvSpPr>
          <p:cNvPr id="21" name="Text 19"/>
          <p:cNvSpPr txBox="1"/>
          <p:nvPr/>
        </p:nvSpPr>
        <p:spPr>
          <a:xfrm>
            <a:off x="548640" y="3977640"/>
            <a:ext cx="8046720" cy="365760"/>
          </a:xfrm>
          <a:prstGeom prst="rect">
            <a:avLst/>
          </a:prstGeom>
          <a:noFill/>
          <a:ln/>
        </p:spPr>
        <p:txBody>
          <a:bodyPr wrap="square" lIns="0" tIns="0" rIns="0" bIns="0" rtlCol="0" anchor="ctr"/>
          <a:lstStyle/>
          <a:p>
            <a:pPr indent="0" marL="0">
              <a:buNone/>
            </a:pPr>
            <a:r>
              <a:rPr lang="en-US" sz="1150" i="1" dirty="0">
                <a:solidFill>
                  <a:srgbClr val="888D94"/>
                </a:solidFill>
                <a:latin typeface="Calibri" pitchFamily="34" charset="0"/>
                <a:ea typeface="Calibri" pitchFamily="34" charset="-122"/>
                <a:cs typeface="Calibri" pitchFamily="34" charset="-120"/>
              </a:rPr>
              <a:t>Бұл шарттар бөлек өңделеді, сондықтан бір жауапта бірнеше ескерту қатар берілуі мүмкін.</a:t>
            </a:r>
            <a:endParaRPr lang="en-US" sz="1150" dirty="0"/>
          </a:p>
        </p:txBody>
      </p:sp>
      <p:sp>
        <p:nvSpPr>
          <p:cNvPr id="22" name="Text 20"/>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МЫСАЛ</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DEMO баламасының техникалық салыстыруы</a:t>
            </a:r>
            <a:endParaRPr lang="en-US" sz="2600" dirty="0"/>
          </a:p>
        </p:txBody>
      </p:sp>
      <p:sp>
        <p:nvSpPr>
          <p:cNvPr id="4" name="Shape 2"/>
          <p:cNvSpPr/>
          <p:nvPr/>
        </p:nvSpPr>
        <p:spPr>
          <a:xfrm>
            <a:off x="548640" y="1298448"/>
            <a:ext cx="8046720" cy="10973"/>
          </a:xfrm>
          <a:prstGeom prst="rect">
            <a:avLst/>
          </a:prstGeom>
          <a:solidFill>
            <a:srgbClr val="E8E9EB"/>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8046720" cy="1828800"/>
        </p:xfrm>
        <a:graphic>
          <a:graphicData uri="http://schemas.openxmlformats.org/drawingml/2006/table">
            <a:tbl>
              <a:tblPr/>
              <a:tblGrid>
                <a:gridCol w="2682240"/>
                <a:gridCol w="2682240"/>
                <a:gridCol w="268224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Сипаттама</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solidFill>
                      <a:srgbClr val="2528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Бастапқы тауар</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solidFill>
                      <a:srgbClr val="2528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Ұсынылған балама</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solidFill>
                      <a:srgbClr val="25282B"/>
                    </a:solidFill>
                  </a:tcPr>
                </a:tc>
              </a:tr>
              <a:tr h="365760">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Полюс саны</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r>
              <a:tr h="365760">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Номиналды ток</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160 А</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160 А</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r>
              <a:tr h="365760">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Кернеу (AC)</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400 В</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400 В</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r>
              <a:tr h="365760">
                <a:tc>
                  <a:txBody>
                    <a:bodyPr/>
                    <a:lstStyle/>
                    <a:p>
                      <a:pPr algn="ctr" indent="0" marL="0">
                        <a:buNone/>
                      </a:pPr>
                      <a:r>
                        <a:rPr lang="en-US" sz="1300" b="1" dirty="0">
                          <a:solidFill>
                            <a:srgbClr val="25282B"/>
                          </a:solidFill>
                          <a:latin typeface="Calibri" pitchFamily="34" charset="0"/>
                          <a:ea typeface="Calibri" pitchFamily="34" charset="-122"/>
                          <a:cs typeface="Calibri" pitchFamily="34" charset="-120"/>
                        </a:rPr>
                        <a:t>Ажырату қабілеті</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dirty="0">
                          <a:solidFill>
                            <a:srgbClr val="25282B"/>
                          </a:solidFill>
                          <a:latin typeface="Calibri" pitchFamily="34" charset="0"/>
                          <a:ea typeface="Calibri" pitchFamily="34" charset="-122"/>
                          <a:cs typeface="Calibri" pitchFamily="34" charset="-120"/>
                        </a:rPr>
                        <a:t>18 кА</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c>
                  <a:txBody>
                    <a:bodyPr/>
                    <a:lstStyle/>
                    <a:p>
                      <a:pPr algn="ctr" indent="0" marL="0">
                        <a:buNone/>
                      </a:pPr>
                      <a:r>
                        <a:rPr lang="en-US" sz="1300" b="1" dirty="0">
                          <a:solidFill>
                            <a:srgbClr val="D55E29"/>
                          </a:solidFill>
                          <a:latin typeface="Calibri" pitchFamily="34" charset="0"/>
                          <a:ea typeface="Calibri" pitchFamily="34" charset="-122"/>
                          <a:cs typeface="Calibri" pitchFamily="34" charset="-120"/>
                        </a:rPr>
                        <a:t>25 кА</a:t>
                      </a:r>
                      <a:endParaRPr lang="en-US" sz="1300" dirty="0">
                        <a:latin typeface="Calibri" charset="0"/>
                        <a:ea typeface="Calibri" charset="0"/>
                        <a:cs typeface="Calibri" charset="0"/>
                      </a:endParaRPr>
                    </a:p>
                  </a:txBody>
                  <a:tcPr marL="91440" marR="91440" marT="45720" marB="45720" anchor="ctr">
                    <a:lnL w="12700" cap="flat" cmpd="sng" algn="ctr">
                      <a:solidFill>
                        <a:srgbClr val="E8E9EB"/>
                      </a:solidFill>
                      <a:prstDash val="solid"/>
                      <a:round/>
                      <a:headEnd type="none" w="med" len="med"/>
                      <a:tailEnd type="none" w="med" len="med"/>
                    </a:lnL>
                    <a:lnR w="12700" cap="flat" cmpd="sng" algn="ctr">
                      <a:solidFill>
                        <a:srgbClr val="E8E9EB"/>
                      </a:solidFill>
                      <a:prstDash val="solid"/>
                      <a:round/>
                      <a:headEnd type="none" w="med" len="med"/>
                      <a:tailEnd type="none" w="med" len="med"/>
                    </a:lnR>
                    <a:lnT w="12700" cap="flat" cmpd="sng" algn="ctr">
                      <a:solidFill>
                        <a:srgbClr val="E8E9EB"/>
                      </a:solidFill>
                      <a:prstDash val="solid"/>
                      <a:round/>
                      <a:headEnd type="none" w="med" len="med"/>
                      <a:tailEnd type="none" w="med" len="med"/>
                    </a:lnT>
                    <a:lnB w="12700" cap="flat" cmpd="sng" algn="ctr">
                      <a:solidFill>
                        <a:srgbClr val="E8E9EB"/>
                      </a:solidFill>
                      <a:prstDash val="solid"/>
                      <a:round/>
                      <a:headEnd type="none" w="med" len="med"/>
                      <a:tailEnd type="none" w="med" len="med"/>
                    </a:lnB>
                  </a:tcPr>
                </a:tc>
              </a:tr>
            </a:tbl>
          </a:graphicData>
        </a:graphic>
      </p:graphicFrame>
      <p:sp>
        <p:nvSpPr>
          <p:cNvPr id="6" name="Text 3"/>
          <p:cNvSpPr txBox="1"/>
          <p:nvPr/>
        </p:nvSpPr>
        <p:spPr>
          <a:xfrm>
            <a:off x="548640" y="3611880"/>
            <a:ext cx="8046720" cy="1097280"/>
          </a:xfrm>
          <a:prstGeom prst="rect">
            <a:avLst/>
          </a:prstGeom>
          <a:noFill/>
          <a:ln/>
        </p:spPr>
        <p:txBody>
          <a:bodyPr wrap="square" lIns="0" tIns="0" rIns="0" bIns="0" rtlCol="0" anchor="ctr"/>
          <a:lstStyle/>
          <a:p>
            <a:pPr indent="0" marL="0">
              <a:lnSpc>
                <a:spcPct val="125000"/>
              </a:lnSpc>
              <a:buNone/>
            </a:pPr>
            <a:r>
              <a:rPr lang="en-US" sz="1250" dirty="0">
                <a:solidFill>
                  <a:srgbClr val="25282B"/>
                </a:solidFill>
                <a:latin typeface="Calibri" pitchFamily="34" charset="0"/>
                <a:ea typeface="Calibri" pitchFamily="34" charset="-122"/>
                <a:cs typeface="Calibri" pitchFamily="34" charset="-120"/>
              </a:rPr>
              <a:t>Үш параметр толық сәйкес келеді, ал ажырату қабілетінде айырмашылық бар. Кодтағы түсіндірме бұл салыстырудың толық үйлесімділікті растамайтынын атап көрсетеді — габариттер мен селективтілікті қосымша тексеру қажет. Бұл синтетикалық деректерге негізделген демонстрациялық мысал.</a:t>
            </a:r>
            <a:endParaRPr lang="en-US" sz="1250" dirty="0"/>
          </a:p>
        </p:txBody>
      </p:sp>
      <p:sp>
        <p:nvSpPr>
          <p:cNvPr id="7" name="Text 4"/>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ЛОГИКА</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Себетке қосу сұрауын тану және санды тексеру</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600200"/>
            <a:ext cx="3886200" cy="2331720"/>
          </a:xfrm>
          <a:prstGeom prst="roundRect">
            <a:avLst>
              <a:gd name="adj" fmla="val 3137"/>
            </a:avLst>
          </a:prstGeom>
          <a:solidFill>
            <a:srgbClr val="FFFFFF"/>
          </a:solidFill>
          <a:ln w="12700">
            <a:solidFill>
              <a:srgbClr val="E8E9EB"/>
            </a:solidFill>
            <a:prstDash val="solid"/>
          </a:ln>
        </p:spPr>
      </p:sp>
      <p:sp>
        <p:nvSpPr>
          <p:cNvPr id="6" name="Text 4"/>
          <p:cNvSpPr txBox="1"/>
          <p:nvPr/>
        </p:nvSpPr>
        <p:spPr>
          <a:xfrm>
            <a:off x="777240" y="1783080"/>
            <a:ext cx="3429000" cy="320040"/>
          </a:xfrm>
          <a:prstGeom prst="rect">
            <a:avLst/>
          </a:prstGeom>
          <a:noFill/>
          <a:ln/>
        </p:spPr>
        <p:txBody>
          <a:bodyPr wrap="square" lIns="0" tIns="0" rIns="0" bIns="0" rtlCol="0" anchor="ctr"/>
          <a:lstStyle/>
          <a:p>
            <a:pPr indent="0" marL="0">
              <a:buNone/>
            </a:pPr>
            <a:r>
              <a:rPr lang="en-US" sz="1400" b="1" dirty="0">
                <a:solidFill>
                  <a:srgbClr val="D55E29"/>
                </a:solidFill>
                <a:latin typeface="Cambria" pitchFamily="34" charset="0"/>
                <a:ea typeface="Cambria" pitchFamily="34" charset="-122"/>
                <a:cs typeface="Cambria" pitchFamily="34" charset="-120"/>
              </a:rPr>
              <a:t>Кілт сөздерді тану</a:t>
            </a:r>
            <a:endParaRPr lang="en-US" sz="1400" dirty="0"/>
          </a:p>
        </p:txBody>
      </p:sp>
      <p:sp>
        <p:nvSpPr>
          <p:cNvPr id="7" name="Text 5"/>
          <p:cNvSpPr txBox="1"/>
          <p:nvPr/>
        </p:nvSpPr>
        <p:spPr>
          <a:xfrm>
            <a:off x="777240" y="2148840"/>
            <a:ext cx="3429000" cy="640080"/>
          </a:xfrm>
          <a:prstGeom prst="rect">
            <a:avLst/>
          </a:prstGeom>
          <a:noFill/>
          <a:ln/>
        </p:spPr>
        <p:txBody>
          <a:bodyPr wrap="square" lIns="0" tIns="0" rIns="0" bIns="0" rtlCol="0" anchor="ctr"/>
          <a:lstStyle/>
          <a:p>
            <a:pPr indent="0" marL="0">
              <a:buNone/>
            </a:pPr>
            <a:r>
              <a:rPr lang="en-US" sz="1150" dirty="0">
                <a:solidFill>
                  <a:srgbClr val="25282B"/>
                </a:solidFill>
                <a:latin typeface="Calibri" pitchFamily="34" charset="0"/>
                <a:ea typeface="Calibri" pitchFamily="34" charset="-122"/>
                <a:cs typeface="Calibri" pitchFamily="34" charset="-120"/>
              </a:rPr>
              <a:t>«қос», «добав», «себет», «корзин», «add», «cart» сөздері сұрауда бар-жоғы тексеріледі.</a:t>
            </a:r>
            <a:endParaRPr lang="en-US" sz="1150" dirty="0"/>
          </a:p>
        </p:txBody>
      </p:sp>
      <p:sp>
        <p:nvSpPr>
          <p:cNvPr id="8" name="Text 6"/>
          <p:cNvSpPr txBox="1"/>
          <p:nvPr/>
        </p:nvSpPr>
        <p:spPr>
          <a:xfrm>
            <a:off x="777240" y="2880360"/>
            <a:ext cx="3429000" cy="365760"/>
          </a:xfrm>
          <a:prstGeom prst="rect">
            <a:avLst/>
          </a:prstGeom>
          <a:noFill/>
          <a:ln/>
        </p:spPr>
        <p:txBody>
          <a:bodyPr wrap="square" lIns="0" tIns="0" rIns="0" bIns="0" rtlCol="0" anchor="ctr"/>
          <a:lstStyle/>
          <a:p>
            <a:pPr indent="0" marL="0">
              <a:buNone/>
            </a:pPr>
            <a:r>
              <a:rPr lang="en-US" sz="1050" i="1" dirty="0">
                <a:solidFill>
                  <a:srgbClr val="888D94"/>
                </a:solidFill>
                <a:latin typeface="Calibri" pitchFamily="34" charset="0"/>
                <a:ea typeface="Calibri" pitchFamily="34" charset="-122"/>
                <a:cs typeface="Calibri" pitchFamily="34" charset="-120"/>
              </a:rPr>
              <a:t>«2 дана қос», «Добавь 2 шт», «Add 2 units»</a:t>
            </a:r>
            <a:endParaRPr lang="en-US" sz="1050" dirty="0"/>
          </a:p>
        </p:txBody>
      </p:sp>
      <p:sp>
        <p:nvSpPr>
          <p:cNvPr id="9" name="Text 7"/>
          <p:cNvSpPr txBox="1"/>
          <p:nvPr/>
        </p:nvSpPr>
        <p:spPr>
          <a:xfrm>
            <a:off x="777240" y="3291840"/>
            <a:ext cx="3429000" cy="548640"/>
          </a:xfrm>
          <a:prstGeom prst="rect">
            <a:avLst/>
          </a:prstGeom>
          <a:noFill/>
          <a:ln/>
        </p:spPr>
        <p:txBody>
          <a:bodyPr wrap="square" lIns="0" tIns="0" rIns="0" bIns="0" rtlCol="0" anchor="ctr"/>
          <a:lstStyle/>
          <a:p>
            <a:pPr indent="0" marL="0">
              <a:buNone/>
            </a:pPr>
            <a:r>
              <a:rPr lang="en-US" sz="1050" dirty="0">
                <a:solidFill>
                  <a:srgbClr val="25282B"/>
                </a:solidFill>
                <a:latin typeface="Calibri" pitchFamily="34" charset="0"/>
                <a:ea typeface="Calibri" pitchFamily="34" charset="-122"/>
                <a:cs typeface="Calibri" pitchFamily="34" charset="-120"/>
              </a:rPr>
              <a:t>Сан q.match() арқылы алынады: өлшем бірлігімен бірге, қосу командасынан кейін немесе жеке жауап ретінде ізделеді.</a:t>
            </a:r>
            <a:endParaRPr lang="en-US" sz="1050" dirty="0"/>
          </a:p>
        </p:txBody>
      </p:sp>
      <p:sp>
        <p:nvSpPr>
          <p:cNvPr id="10" name="Shape 8"/>
          <p:cNvSpPr/>
          <p:nvPr/>
        </p:nvSpPr>
        <p:spPr>
          <a:xfrm>
            <a:off x="4709160" y="1600200"/>
            <a:ext cx="3886200" cy="2331720"/>
          </a:xfrm>
          <a:prstGeom prst="roundRect">
            <a:avLst>
              <a:gd name="adj" fmla="val 3137"/>
            </a:avLst>
          </a:prstGeom>
          <a:solidFill>
            <a:srgbClr val="FFFFFF"/>
          </a:solidFill>
          <a:ln w="12700">
            <a:solidFill>
              <a:srgbClr val="E8E9EB"/>
            </a:solidFill>
            <a:prstDash val="solid"/>
          </a:ln>
        </p:spPr>
      </p:sp>
      <p:sp>
        <p:nvSpPr>
          <p:cNvPr id="11" name="Text 9"/>
          <p:cNvSpPr txBox="1"/>
          <p:nvPr/>
        </p:nvSpPr>
        <p:spPr>
          <a:xfrm>
            <a:off x="4937760" y="1783080"/>
            <a:ext cx="3429000" cy="320040"/>
          </a:xfrm>
          <a:prstGeom prst="rect">
            <a:avLst/>
          </a:prstGeom>
          <a:noFill/>
          <a:ln/>
        </p:spPr>
        <p:txBody>
          <a:bodyPr wrap="square" lIns="0" tIns="0" rIns="0" bIns="0" rtlCol="0" anchor="ctr"/>
          <a:lstStyle/>
          <a:p>
            <a:pPr indent="0" marL="0">
              <a:buNone/>
            </a:pPr>
            <a:r>
              <a:rPr lang="en-US" sz="1400" b="1" dirty="0">
                <a:solidFill>
                  <a:srgbClr val="D55E29"/>
                </a:solidFill>
                <a:latin typeface="Cambria" pitchFamily="34" charset="0"/>
                <a:ea typeface="Cambria" pitchFamily="34" charset="-122"/>
                <a:cs typeface="Cambria" pitchFamily="34" charset="-120"/>
              </a:rPr>
              <a:t>Сан дұрыстығын тексеру</a:t>
            </a:r>
            <a:endParaRPr lang="en-US" sz="1400" dirty="0"/>
          </a:p>
        </p:txBody>
      </p:sp>
      <p:sp>
        <p:nvSpPr>
          <p:cNvPr id="12" name="Shape 10"/>
          <p:cNvSpPr/>
          <p:nvPr/>
        </p:nvSpPr>
        <p:spPr>
          <a:xfrm>
            <a:off x="4937760" y="2194560"/>
            <a:ext cx="3429000" cy="502920"/>
          </a:xfrm>
          <a:prstGeom prst="roundRect">
            <a:avLst>
              <a:gd name="adj" fmla="val 9091"/>
            </a:avLst>
          </a:prstGeom>
          <a:solidFill>
            <a:srgbClr val="25282B"/>
          </a:solidFill>
          <a:ln/>
        </p:spPr>
      </p:sp>
      <p:sp>
        <p:nvSpPr>
          <p:cNvPr id="13" name="Text 11"/>
          <p:cNvSpPr txBox="1"/>
          <p:nvPr/>
        </p:nvSpPr>
        <p:spPr>
          <a:xfrm>
            <a:off x="5074920" y="2194560"/>
            <a:ext cx="3154680" cy="502920"/>
          </a:xfrm>
          <a:prstGeom prst="rect">
            <a:avLst/>
          </a:prstGeom>
          <a:noFill/>
          <a:ln/>
        </p:spPr>
        <p:txBody>
          <a:bodyPr wrap="square" lIns="0" tIns="0" rIns="0" bIns="0" rtlCol="0" anchor="ctr"/>
          <a:lstStyle/>
          <a:p>
            <a:pPr indent="0" marL="0">
              <a:buNone/>
            </a:pPr>
            <a:r>
              <a:rPr lang="en-US" sz="1050" dirty="0">
                <a:solidFill>
                  <a:srgbClr val="E66D36"/>
                </a:solidFill>
                <a:latin typeface="Courier New" pitchFamily="34" charset="0"/>
                <a:ea typeface="Courier New" pitchFamily="34" charset="-122"/>
                <a:cs typeface="Courier New" pitchFamily="34" charset="-120"/>
              </a:rPr>
              <a:t>!/^\d+$/.test(n) || Number(n) &lt; 1</a:t>
            </a:r>
            <a:endParaRPr lang="en-US" sz="1050" dirty="0"/>
          </a:p>
        </p:txBody>
      </p:sp>
      <p:sp>
        <p:nvSpPr>
          <p:cNvPr id="14" name="Text 12"/>
          <p:cNvSpPr txBox="1"/>
          <p:nvPr/>
        </p:nvSpPr>
        <p:spPr>
          <a:xfrm>
            <a:off x="4937760" y="2834640"/>
            <a:ext cx="3429000" cy="548640"/>
          </a:xfrm>
          <a:prstGeom prst="rect">
            <a:avLst/>
          </a:prstGeom>
          <a:noFill/>
          <a:ln/>
        </p:spPr>
        <p:txBody>
          <a:bodyPr wrap="square" lIns="0" tIns="0" rIns="0" bIns="0" rtlCol="0" anchor="ctr"/>
          <a:lstStyle/>
          <a:p>
            <a:pPr indent="0" marL="0">
              <a:buNone/>
            </a:pPr>
            <a:r>
              <a:rPr lang="en-US" sz="1100" dirty="0">
                <a:solidFill>
                  <a:srgbClr val="25282B"/>
                </a:solidFill>
                <a:latin typeface="Calibri" pitchFamily="34" charset="0"/>
                <a:ea typeface="Calibri" pitchFamily="34" charset="-122"/>
                <a:cs typeface="Calibri" pitchFamily="34" charset="-120"/>
              </a:rPr>
              <a:t>Сан тек цифрлардан тұруы және 1-ден кем болмауы керек. Дұрыс болмаса — түсіндірме беріледі.</a:t>
            </a:r>
            <a:endParaRPr lang="en-US" sz="1100" dirty="0"/>
          </a:p>
        </p:txBody>
      </p:sp>
      <p:sp>
        <p:nvSpPr>
          <p:cNvPr id="15" name="Text 13"/>
          <p:cNvSpPr txBox="1"/>
          <p:nvPr/>
        </p:nvSpPr>
        <p:spPr>
          <a:xfrm>
            <a:off x="4937760" y="3429000"/>
            <a:ext cx="3429000" cy="502920"/>
          </a:xfrm>
          <a:prstGeom prst="rect">
            <a:avLst/>
          </a:prstGeom>
          <a:noFill/>
          <a:ln/>
        </p:spPr>
        <p:txBody>
          <a:bodyPr wrap="square" lIns="0" tIns="0" rIns="0" bIns="0" rtlCol="0" anchor="ctr"/>
          <a:lstStyle/>
          <a:p>
            <a:pPr indent="0" marL="0">
              <a:buNone/>
            </a:pPr>
            <a:r>
              <a:rPr lang="en-US" sz="1050" i="1" dirty="0">
                <a:solidFill>
                  <a:srgbClr val="888D94"/>
                </a:solidFill>
                <a:latin typeface="Calibri" pitchFamily="34" charset="0"/>
                <a:ea typeface="Calibri" pitchFamily="34" charset="-122"/>
                <a:cs typeface="Calibri" pitchFamily="34" charset="-120"/>
              </a:rPr>
              <a:t>Сан мүлде табылмаса, көмекші «Неше дана қосу керек?» деп нақтылап, қосу алдында бөлек растау болатынын хабарлайды.</a:t>
            </a:r>
            <a:endParaRPr lang="en-US" sz="1050" dirty="0"/>
          </a:p>
        </p:txBody>
      </p:sp>
      <p:sp>
        <p:nvSpPr>
          <p:cNvPr id="16" name="Text 14"/>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ВАЛИДАЦИЯ</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Draft объектісі және тесттелу</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600200"/>
            <a:ext cx="3291840" cy="2377440"/>
          </a:xfrm>
          <a:prstGeom prst="roundRect">
            <a:avLst>
              <a:gd name="adj" fmla="val 2308"/>
            </a:avLst>
          </a:prstGeom>
          <a:solidFill>
            <a:srgbClr val="25282B"/>
          </a:solidFill>
          <a:ln/>
        </p:spPr>
      </p:sp>
      <p:sp>
        <p:nvSpPr>
          <p:cNvPr id="6" name="Text 4"/>
          <p:cNvSpPr txBox="1"/>
          <p:nvPr/>
        </p:nvSpPr>
        <p:spPr>
          <a:xfrm>
            <a:off x="777240" y="1783080"/>
            <a:ext cx="2834640" cy="2011680"/>
          </a:xfrm>
          <a:prstGeom prst="rect">
            <a:avLst/>
          </a:prstGeom>
          <a:noFill/>
          <a:ln/>
        </p:spPr>
        <p:txBody>
          <a:bodyPr wrap="square" lIns="0" tIns="0" rIns="0" bIns="0" rtlCol="0" anchor="t"/>
          <a:lstStyle/>
          <a:p>
            <a:pPr indent="0" marL="0">
              <a:buNone/>
            </a:pPr>
            <a:r>
              <a:rPr lang="en-US" sz="1300" dirty="0">
                <a:solidFill>
                  <a:srgbClr val="E66D36"/>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6D36"/>
                </a:solidFill>
                <a:latin typeface="Courier New" pitchFamily="34" charset="0"/>
                <a:ea typeface="Courier New" pitchFamily="34" charset="-122"/>
                <a:cs typeface="Courier New" pitchFamily="34" charset="-120"/>
              </a:rPr>
              <a:t>  productId: 515291,
</a:t>
            </a:r>
            <a:endParaRPr lang="en-US" sz="1300" dirty="0"/>
          </a:p>
          <a:p>
            <a:pPr indent="0" marL="0">
              <a:buNone/>
            </a:pPr>
            <a:r>
              <a:rPr lang="en-US" sz="1300" dirty="0">
                <a:solidFill>
                  <a:srgbClr val="E66D36"/>
                </a:solidFill>
                <a:latin typeface="Courier New" pitchFamily="34" charset="0"/>
                <a:ea typeface="Courier New" pitchFamily="34" charset="-122"/>
                <a:cs typeface="Courier New" pitchFamily="34" charset="-120"/>
              </a:rPr>
              <a:t>  storeId: 13,
</a:t>
            </a:r>
            <a:endParaRPr lang="en-US" sz="1300" dirty="0"/>
          </a:p>
          <a:p>
            <a:pPr indent="0" marL="0">
              <a:buNone/>
            </a:pPr>
            <a:r>
              <a:rPr lang="en-US" sz="1300" dirty="0">
                <a:solidFill>
                  <a:srgbClr val="E66D36"/>
                </a:solidFill>
                <a:latin typeface="Courier New" pitchFamily="34" charset="0"/>
                <a:ea typeface="Courier New" pitchFamily="34" charset="-122"/>
                <a:cs typeface="Courier New" pitchFamily="34" charset="-120"/>
              </a:rPr>
              <a:t>  quantity: 2
</a:t>
            </a:r>
            <a:endParaRPr lang="en-US" sz="1300" dirty="0"/>
          </a:p>
          <a:p>
            <a:pPr indent="0" marL="0">
              <a:buNone/>
            </a:pPr>
            <a:r>
              <a:rPr lang="en-US" sz="1300" dirty="0">
                <a:solidFill>
                  <a:srgbClr val="E66D36"/>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4160520" y="1746504"/>
            <a:ext cx="128016" cy="128016"/>
          </a:xfrm>
          <a:prstGeom prst="ellipse">
            <a:avLst/>
          </a:prstGeom>
          <a:solidFill>
            <a:srgbClr val="7FA98E"/>
          </a:solidFill>
          <a:ln/>
        </p:spPr>
      </p:sp>
      <p:sp>
        <p:nvSpPr>
          <p:cNvPr id="8" name="Text 6"/>
          <p:cNvSpPr txBox="1"/>
          <p:nvPr/>
        </p:nvSpPr>
        <p:spPr>
          <a:xfrm>
            <a:off x="4434840" y="1618488"/>
            <a:ext cx="4160520" cy="502920"/>
          </a:xfrm>
          <a:prstGeom prst="rect">
            <a:avLst/>
          </a:prstGeom>
          <a:noFill/>
          <a:ln/>
        </p:spPr>
        <p:txBody>
          <a:bodyPr wrap="square" lIns="0" tIns="0" rIns="0" bIns="0" rtlCol="0" anchor="ctr"/>
          <a:lstStyle/>
          <a:p>
            <a:pPr indent="0" marL="0">
              <a:buNone/>
            </a:pPr>
            <a:r>
              <a:rPr lang="en-US" sz="1150" dirty="0">
                <a:solidFill>
                  <a:srgbClr val="25282B"/>
                </a:solidFill>
                <a:latin typeface="Calibri" pitchFamily="34" charset="0"/>
                <a:ea typeface="Calibri" pitchFamily="34" charset="-122"/>
                <a:cs typeface="Calibri" pitchFamily="34" charset="-120"/>
              </a:rPr>
              <a:t>«2 дана қосу» сұрауында дұрыс тауар, дүкен және сан беріледі</a:t>
            </a:r>
            <a:endParaRPr lang="en-US" sz="1150" dirty="0"/>
          </a:p>
        </p:txBody>
      </p:sp>
      <p:sp>
        <p:nvSpPr>
          <p:cNvPr id="9" name="Shape 7"/>
          <p:cNvSpPr/>
          <p:nvPr/>
        </p:nvSpPr>
        <p:spPr>
          <a:xfrm>
            <a:off x="4160520" y="2340864"/>
            <a:ext cx="128016" cy="128016"/>
          </a:xfrm>
          <a:prstGeom prst="ellipse">
            <a:avLst/>
          </a:prstGeom>
          <a:solidFill>
            <a:srgbClr val="7FA98E"/>
          </a:solidFill>
          <a:ln/>
        </p:spPr>
      </p:sp>
      <p:sp>
        <p:nvSpPr>
          <p:cNvPr id="10" name="Text 8"/>
          <p:cNvSpPr txBox="1"/>
          <p:nvPr/>
        </p:nvSpPr>
        <p:spPr>
          <a:xfrm>
            <a:off x="4434840" y="2212848"/>
            <a:ext cx="4160520" cy="502920"/>
          </a:xfrm>
          <a:prstGeom prst="rect">
            <a:avLst/>
          </a:prstGeom>
          <a:noFill/>
          <a:ln/>
        </p:spPr>
        <p:txBody>
          <a:bodyPr wrap="square" lIns="0" tIns="0" rIns="0" bIns="0" rtlCol="0" anchor="ctr"/>
          <a:lstStyle/>
          <a:p>
            <a:pPr indent="0" marL="0">
              <a:buNone/>
            </a:pPr>
            <a:r>
              <a:rPr lang="en-US" sz="1150" dirty="0">
                <a:solidFill>
                  <a:srgbClr val="25282B"/>
                </a:solidFill>
                <a:latin typeface="Calibri" pitchFamily="34" charset="0"/>
                <a:ea typeface="Calibri" pitchFamily="34" charset="-122"/>
                <a:cs typeface="Calibri" pitchFamily="34" charset="-120"/>
              </a:rPr>
              <a:t>Кейінгі жеке «2» жауабынан draft дұрыс алынады</a:t>
            </a:r>
            <a:endParaRPr lang="en-US" sz="1150" dirty="0"/>
          </a:p>
        </p:txBody>
      </p:sp>
      <p:sp>
        <p:nvSpPr>
          <p:cNvPr id="11" name="Shape 9"/>
          <p:cNvSpPr/>
          <p:nvPr/>
        </p:nvSpPr>
        <p:spPr>
          <a:xfrm>
            <a:off x="4160520" y="2935224"/>
            <a:ext cx="128016" cy="128016"/>
          </a:xfrm>
          <a:prstGeom prst="ellipse">
            <a:avLst/>
          </a:prstGeom>
          <a:solidFill>
            <a:srgbClr val="7FA98E"/>
          </a:solidFill>
          <a:ln/>
        </p:spPr>
      </p:sp>
      <p:sp>
        <p:nvSpPr>
          <p:cNvPr id="12" name="Text 10"/>
          <p:cNvSpPr txBox="1"/>
          <p:nvPr/>
        </p:nvSpPr>
        <p:spPr>
          <a:xfrm>
            <a:off x="4434840" y="2807208"/>
            <a:ext cx="4160520" cy="502920"/>
          </a:xfrm>
          <a:prstGeom prst="rect">
            <a:avLst/>
          </a:prstGeom>
          <a:noFill/>
          <a:ln/>
        </p:spPr>
        <p:txBody>
          <a:bodyPr wrap="square" lIns="0" tIns="0" rIns="0" bIns="0" rtlCol="0" anchor="ctr"/>
          <a:lstStyle/>
          <a:p>
            <a:pPr indent="0" marL="0">
              <a:buNone/>
            </a:pPr>
            <a:r>
              <a:rPr lang="en-US" sz="1150" dirty="0">
                <a:solidFill>
                  <a:srgbClr val="25282B"/>
                </a:solidFill>
                <a:latin typeface="Calibri" pitchFamily="34" charset="0"/>
                <a:ea typeface="Calibri" pitchFamily="34" charset="-122"/>
                <a:cs typeface="Calibri" pitchFamily="34" charset="-120"/>
              </a:rPr>
              <a:t>-2, 1.5, 1,5, 0 мәндерінде draft жасалмайды</a:t>
            </a:r>
            <a:endParaRPr lang="en-US" sz="1150" dirty="0"/>
          </a:p>
        </p:txBody>
      </p:sp>
      <p:sp>
        <p:nvSpPr>
          <p:cNvPr id="13" name="Shape 11"/>
          <p:cNvSpPr/>
          <p:nvPr/>
        </p:nvSpPr>
        <p:spPr>
          <a:xfrm>
            <a:off x="4160520" y="3529584"/>
            <a:ext cx="128016" cy="128016"/>
          </a:xfrm>
          <a:prstGeom prst="ellipse">
            <a:avLst/>
          </a:prstGeom>
          <a:solidFill>
            <a:srgbClr val="7FA98E"/>
          </a:solidFill>
          <a:ln/>
        </p:spPr>
      </p:sp>
      <p:sp>
        <p:nvSpPr>
          <p:cNvPr id="14" name="Text 12"/>
          <p:cNvSpPr txBox="1"/>
          <p:nvPr/>
        </p:nvSpPr>
        <p:spPr>
          <a:xfrm>
            <a:off x="4434840" y="3401568"/>
            <a:ext cx="4160520" cy="502920"/>
          </a:xfrm>
          <a:prstGeom prst="rect">
            <a:avLst/>
          </a:prstGeom>
          <a:noFill/>
          <a:ln/>
        </p:spPr>
        <p:txBody>
          <a:bodyPr wrap="square" lIns="0" tIns="0" rIns="0" bIns="0" rtlCol="0" anchor="ctr"/>
          <a:lstStyle/>
          <a:p>
            <a:pPr indent="0" marL="0">
              <a:buNone/>
            </a:pPr>
            <a:r>
              <a:rPr lang="en-US" sz="1150" dirty="0">
                <a:solidFill>
                  <a:srgbClr val="25282B"/>
                </a:solidFill>
                <a:latin typeface="Calibri" pitchFamily="34" charset="0"/>
                <a:ea typeface="Calibri" pitchFamily="34" charset="-122"/>
                <a:cs typeface="Calibri" pitchFamily="34" charset="-120"/>
              </a:rPr>
              <a:t>DEMO-A сұрауында 90000002 ID-лі балама ұсынылады</a:t>
            </a:r>
            <a:endParaRPr lang="en-US" sz="1150" dirty="0"/>
          </a:p>
        </p:txBody>
      </p:sp>
      <p:sp>
        <p:nvSpPr>
          <p:cNvPr id="15" name="Text 13"/>
          <p:cNvSpPr txBox="1"/>
          <p:nvPr/>
        </p:nvSpPr>
        <p:spPr>
          <a:xfrm>
            <a:off x="4160520" y="4114800"/>
            <a:ext cx="4434840" cy="411480"/>
          </a:xfrm>
          <a:prstGeom prst="rect">
            <a:avLst/>
          </a:prstGeom>
          <a:noFill/>
          <a:ln/>
        </p:spPr>
        <p:txBody>
          <a:bodyPr wrap="square" lIns="0" tIns="0" rIns="0" bIns="0" rtlCol="0" anchor="ctr"/>
          <a:lstStyle/>
          <a:p>
            <a:pPr indent="0" marL="0">
              <a:buNone/>
            </a:pPr>
            <a:r>
              <a:rPr lang="en-US" sz="1050" i="1" dirty="0">
                <a:solidFill>
                  <a:srgbClr val="888D94"/>
                </a:solidFill>
                <a:latin typeface="Calibri" pitchFamily="34" charset="0"/>
                <a:ea typeface="Calibri" pitchFamily="34" charset="-122"/>
                <a:cs typeface="Calibri" pitchFamily="34" charset="-120"/>
              </a:rPr>
              <a:t>assert.deepEqual(), assert.equal(), assert.ok() — күтілетін нәтижелерді тексереді.</a:t>
            </a:r>
            <a:endParaRPr lang="en-US" sz="1050" dirty="0"/>
          </a:p>
        </p:txBody>
      </p:sp>
      <p:sp>
        <p:nvSpPr>
          <p:cNvPr id="16" name="Text 14"/>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ДИЗАЙН</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Сайттың түс палитрасы</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600200"/>
            <a:ext cx="1874520" cy="1051560"/>
          </a:xfrm>
          <a:prstGeom prst="roundRect">
            <a:avLst>
              <a:gd name="adj" fmla="val 6957"/>
            </a:avLst>
          </a:prstGeom>
          <a:solidFill>
            <a:srgbClr val="E66D36"/>
          </a:solidFill>
          <a:ln/>
        </p:spPr>
      </p:sp>
      <p:sp>
        <p:nvSpPr>
          <p:cNvPr id="6" name="Text 4"/>
          <p:cNvSpPr txBox="1"/>
          <p:nvPr/>
        </p:nvSpPr>
        <p:spPr>
          <a:xfrm>
            <a:off x="548640" y="1600200"/>
            <a:ext cx="1874520" cy="10515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#E66D36</a:t>
            </a:r>
            <a:endParaRPr lang="en-US" sz="1100" dirty="0"/>
          </a:p>
        </p:txBody>
      </p:sp>
      <p:sp>
        <p:nvSpPr>
          <p:cNvPr id="7" name="Text 5"/>
          <p:cNvSpPr txBox="1"/>
          <p:nvPr/>
        </p:nvSpPr>
        <p:spPr>
          <a:xfrm>
            <a:off x="548640" y="2743200"/>
            <a:ext cx="1874520" cy="274320"/>
          </a:xfrm>
          <a:prstGeom prst="rect">
            <a:avLst/>
          </a:prstGeom>
          <a:noFill/>
          <a:ln/>
        </p:spPr>
        <p:txBody>
          <a:bodyPr wrap="square" lIns="0" tIns="0" rIns="0" bIns="0" rtlCol="0" anchor="ctr"/>
          <a:lstStyle/>
          <a:p>
            <a:pPr algn="ctr" indent="0" marL="0">
              <a:buNone/>
            </a:pPr>
            <a:r>
              <a:rPr lang="en-US" sz="1150" b="1" dirty="0">
                <a:solidFill>
                  <a:srgbClr val="25282B"/>
                </a:solidFill>
                <a:latin typeface="Cambria" pitchFamily="34" charset="0"/>
                <a:ea typeface="Cambria" pitchFamily="34" charset="-122"/>
                <a:cs typeface="Cambria" pitchFamily="34" charset="-120"/>
              </a:rPr>
              <a:t>Қызғылт сары</a:t>
            </a:r>
            <a:endParaRPr lang="en-US" sz="1150" dirty="0"/>
          </a:p>
        </p:txBody>
      </p:sp>
      <p:sp>
        <p:nvSpPr>
          <p:cNvPr id="8" name="Text 6"/>
          <p:cNvSpPr txBox="1"/>
          <p:nvPr/>
        </p:nvSpPr>
        <p:spPr>
          <a:xfrm>
            <a:off x="548640" y="3035808"/>
            <a:ext cx="1874520" cy="502920"/>
          </a:xfrm>
          <a:prstGeom prst="rect">
            <a:avLst/>
          </a:prstGeom>
          <a:noFill/>
          <a:ln/>
        </p:spPr>
        <p:txBody>
          <a:bodyPr wrap="square" lIns="0" tIns="0" rIns="0" bIns="0" rtlCol="0" anchor="ctr"/>
          <a:lstStyle/>
          <a:p>
            <a:pPr algn="ctr" indent="0" marL="0">
              <a:buNone/>
            </a:pPr>
            <a:r>
              <a:rPr lang="en-US" sz="900" dirty="0">
                <a:solidFill>
                  <a:srgbClr val="888D94"/>
                </a:solidFill>
                <a:latin typeface="Calibri" pitchFamily="34" charset="0"/>
                <a:ea typeface="Calibri" pitchFamily="34" charset="-122"/>
                <a:cs typeface="Calibri" pitchFamily="34" charset="-120"/>
              </a:rPr>
              <a:t>Жіберу батырмасы, негізгі әрекеттер</a:t>
            </a:r>
            <a:endParaRPr lang="en-US" sz="900" dirty="0"/>
          </a:p>
        </p:txBody>
      </p:sp>
      <p:sp>
        <p:nvSpPr>
          <p:cNvPr id="9" name="Shape 7"/>
          <p:cNvSpPr/>
          <p:nvPr/>
        </p:nvSpPr>
        <p:spPr>
          <a:xfrm>
            <a:off x="2606040" y="1600200"/>
            <a:ext cx="1874520" cy="1051560"/>
          </a:xfrm>
          <a:prstGeom prst="roundRect">
            <a:avLst>
              <a:gd name="adj" fmla="val 6957"/>
            </a:avLst>
          </a:prstGeom>
          <a:solidFill>
            <a:srgbClr val="25282B"/>
          </a:solidFill>
          <a:ln/>
        </p:spPr>
      </p:sp>
      <p:sp>
        <p:nvSpPr>
          <p:cNvPr id="10" name="Text 8"/>
          <p:cNvSpPr txBox="1"/>
          <p:nvPr/>
        </p:nvSpPr>
        <p:spPr>
          <a:xfrm>
            <a:off x="2606040" y="1600200"/>
            <a:ext cx="1874520" cy="10515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#25282B</a:t>
            </a:r>
            <a:endParaRPr lang="en-US" sz="1100" dirty="0"/>
          </a:p>
        </p:txBody>
      </p:sp>
      <p:sp>
        <p:nvSpPr>
          <p:cNvPr id="11" name="Text 9"/>
          <p:cNvSpPr txBox="1"/>
          <p:nvPr/>
        </p:nvSpPr>
        <p:spPr>
          <a:xfrm>
            <a:off x="2606040" y="2743200"/>
            <a:ext cx="1874520" cy="274320"/>
          </a:xfrm>
          <a:prstGeom prst="rect">
            <a:avLst/>
          </a:prstGeom>
          <a:noFill/>
          <a:ln/>
        </p:spPr>
        <p:txBody>
          <a:bodyPr wrap="square" lIns="0" tIns="0" rIns="0" bIns="0" rtlCol="0" anchor="ctr"/>
          <a:lstStyle/>
          <a:p>
            <a:pPr algn="ctr" indent="0" marL="0">
              <a:buNone/>
            </a:pPr>
            <a:r>
              <a:rPr lang="en-US" sz="1150" b="1" dirty="0">
                <a:solidFill>
                  <a:srgbClr val="25282B"/>
                </a:solidFill>
                <a:latin typeface="Cambria" pitchFamily="34" charset="0"/>
                <a:ea typeface="Cambria" pitchFamily="34" charset="-122"/>
                <a:cs typeface="Cambria" pitchFamily="34" charset="-120"/>
              </a:rPr>
              <a:t>Қою сұр</a:t>
            </a:r>
            <a:endParaRPr lang="en-US" sz="1150" dirty="0"/>
          </a:p>
        </p:txBody>
      </p:sp>
      <p:sp>
        <p:nvSpPr>
          <p:cNvPr id="12" name="Text 10"/>
          <p:cNvSpPr txBox="1"/>
          <p:nvPr/>
        </p:nvSpPr>
        <p:spPr>
          <a:xfrm>
            <a:off x="2606040" y="3035808"/>
            <a:ext cx="1874520" cy="502920"/>
          </a:xfrm>
          <a:prstGeom prst="rect">
            <a:avLst/>
          </a:prstGeom>
          <a:noFill/>
          <a:ln/>
        </p:spPr>
        <p:txBody>
          <a:bodyPr wrap="square" lIns="0" tIns="0" rIns="0" bIns="0" rtlCol="0" anchor="ctr"/>
          <a:lstStyle/>
          <a:p>
            <a:pPr algn="ctr" indent="0" marL="0">
              <a:buNone/>
            </a:pPr>
            <a:r>
              <a:rPr lang="en-US" sz="900" dirty="0">
                <a:solidFill>
                  <a:srgbClr val="888D94"/>
                </a:solidFill>
                <a:latin typeface="Calibri" pitchFamily="34" charset="0"/>
                <a:ea typeface="Calibri" pitchFamily="34" charset="-122"/>
                <a:cs typeface="Calibri" pitchFamily="34" charset="-120"/>
              </a:rPr>
              <a:t>Негізгі мәтін, батырма фоны</a:t>
            </a:r>
            <a:endParaRPr lang="en-US" sz="900" dirty="0"/>
          </a:p>
        </p:txBody>
      </p:sp>
      <p:sp>
        <p:nvSpPr>
          <p:cNvPr id="13" name="Shape 11"/>
          <p:cNvSpPr/>
          <p:nvPr/>
        </p:nvSpPr>
        <p:spPr>
          <a:xfrm>
            <a:off x="4663440" y="1600200"/>
            <a:ext cx="1874520" cy="1051560"/>
          </a:xfrm>
          <a:prstGeom prst="roundRect">
            <a:avLst>
              <a:gd name="adj" fmla="val 6957"/>
            </a:avLst>
          </a:prstGeom>
          <a:solidFill>
            <a:srgbClr val="888D94"/>
          </a:solidFill>
          <a:ln/>
        </p:spPr>
      </p:sp>
      <p:sp>
        <p:nvSpPr>
          <p:cNvPr id="14" name="Text 12"/>
          <p:cNvSpPr txBox="1"/>
          <p:nvPr/>
        </p:nvSpPr>
        <p:spPr>
          <a:xfrm>
            <a:off x="4663440" y="1600200"/>
            <a:ext cx="1874520" cy="105156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#888D94</a:t>
            </a:r>
            <a:endParaRPr lang="en-US" sz="1100" dirty="0"/>
          </a:p>
        </p:txBody>
      </p:sp>
      <p:sp>
        <p:nvSpPr>
          <p:cNvPr id="15" name="Text 13"/>
          <p:cNvSpPr txBox="1"/>
          <p:nvPr/>
        </p:nvSpPr>
        <p:spPr>
          <a:xfrm>
            <a:off x="4663440" y="2743200"/>
            <a:ext cx="1874520" cy="274320"/>
          </a:xfrm>
          <a:prstGeom prst="rect">
            <a:avLst/>
          </a:prstGeom>
          <a:noFill/>
          <a:ln/>
        </p:spPr>
        <p:txBody>
          <a:bodyPr wrap="square" lIns="0" tIns="0" rIns="0" bIns="0" rtlCol="0" anchor="ctr"/>
          <a:lstStyle/>
          <a:p>
            <a:pPr algn="ctr" indent="0" marL="0">
              <a:buNone/>
            </a:pPr>
            <a:r>
              <a:rPr lang="en-US" sz="1150" b="1" dirty="0">
                <a:solidFill>
                  <a:srgbClr val="25282B"/>
                </a:solidFill>
                <a:latin typeface="Cambria" pitchFamily="34" charset="0"/>
                <a:ea typeface="Cambria" pitchFamily="34" charset="-122"/>
                <a:cs typeface="Cambria" pitchFamily="34" charset="-120"/>
              </a:rPr>
              <a:t>Сұр</a:t>
            </a:r>
            <a:endParaRPr lang="en-US" sz="1150" dirty="0"/>
          </a:p>
        </p:txBody>
      </p:sp>
      <p:sp>
        <p:nvSpPr>
          <p:cNvPr id="16" name="Text 14"/>
          <p:cNvSpPr txBox="1"/>
          <p:nvPr/>
        </p:nvSpPr>
        <p:spPr>
          <a:xfrm>
            <a:off x="4663440" y="3035808"/>
            <a:ext cx="1874520" cy="502920"/>
          </a:xfrm>
          <a:prstGeom prst="rect">
            <a:avLst/>
          </a:prstGeom>
          <a:noFill/>
          <a:ln/>
        </p:spPr>
        <p:txBody>
          <a:bodyPr wrap="square" lIns="0" tIns="0" rIns="0" bIns="0" rtlCol="0" anchor="ctr"/>
          <a:lstStyle/>
          <a:p>
            <a:pPr algn="ctr" indent="0" marL="0">
              <a:buNone/>
            </a:pPr>
            <a:r>
              <a:rPr lang="en-US" sz="900" dirty="0">
                <a:solidFill>
                  <a:srgbClr val="888D94"/>
                </a:solidFill>
                <a:latin typeface="Calibri" pitchFamily="34" charset="0"/>
                <a:ea typeface="Calibri" pitchFamily="34" charset="-122"/>
                <a:cs typeface="Calibri" pitchFamily="34" charset="-120"/>
              </a:rPr>
              <a:t>Көмекші мәтін</a:t>
            </a:r>
            <a:endParaRPr lang="en-US" sz="900" dirty="0"/>
          </a:p>
        </p:txBody>
      </p:sp>
      <p:sp>
        <p:nvSpPr>
          <p:cNvPr id="17" name="Shape 15"/>
          <p:cNvSpPr/>
          <p:nvPr/>
        </p:nvSpPr>
        <p:spPr>
          <a:xfrm>
            <a:off x="6720840" y="1600200"/>
            <a:ext cx="1874520" cy="1051560"/>
          </a:xfrm>
          <a:prstGeom prst="roundRect">
            <a:avLst>
              <a:gd name="adj" fmla="val 6957"/>
            </a:avLst>
          </a:prstGeom>
          <a:solidFill>
            <a:srgbClr val="FFF1E9"/>
          </a:solidFill>
          <a:ln w="12700">
            <a:solidFill>
              <a:srgbClr val="E8E9EB"/>
            </a:solidFill>
            <a:prstDash val="solid"/>
          </a:ln>
        </p:spPr>
      </p:sp>
      <p:sp>
        <p:nvSpPr>
          <p:cNvPr id="18" name="Text 16"/>
          <p:cNvSpPr txBox="1"/>
          <p:nvPr/>
        </p:nvSpPr>
        <p:spPr>
          <a:xfrm>
            <a:off x="6720840" y="1600200"/>
            <a:ext cx="1874520" cy="1051560"/>
          </a:xfrm>
          <a:prstGeom prst="rect">
            <a:avLst/>
          </a:prstGeom>
          <a:noFill/>
          <a:ln/>
        </p:spPr>
        <p:txBody>
          <a:bodyPr wrap="square" lIns="0" tIns="0" rIns="0" bIns="0" rtlCol="0" anchor="ctr"/>
          <a:lstStyle/>
          <a:p>
            <a:pPr algn="ctr" indent="0" marL="0">
              <a:buNone/>
            </a:pPr>
            <a:r>
              <a:rPr lang="en-US" sz="1100" b="1" dirty="0">
                <a:solidFill>
                  <a:srgbClr val="25282B"/>
                </a:solidFill>
                <a:latin typeface="Courier New" pitchFamily="34" charset="0"/>
                <a:ea typeface="Courier New" pitchFamily="34" charset="-122"/>
                <a:cs typeface="Courier New" pitchFamily="34" charset="-120"/>
              </a:rPr>
              <a:t>#FFF1E9</a:t>
            </a:r>
            <a:endParaRPr lang="en-US" sz="1100" dirty="0"/>
          </a:p>
        </p:txBody>
      </p:sp>
      <p:sp>
        <p:nvSpPr>
          <p:cNvPr id="19" name="Text 17"/>
          <p:cNvSpPr txBox="1"/>
          <p:nvPr/>
        </p:nvSpPr>
        <p:spPr>
          <a:xfrm>
            <a:off x="6720840" y="2743200"/>
            <a:ext cx="1874520" cy="274320"/>
          </a:xfrm>
          <a:prstGeom prst="rect">
            <a:avLst/>
          </a:prstGeom>
          <a:noFill/>
          <a:ln/>
        </p:spPr>
        <p:txBody>
          <a:bodyPr wrap="square" lIns="0" tIns="0" rIns="0" bIns="0" rtlCol="0" anchor="ctr"/>
          <a:lstStyle/>
          <a:p>
            <a:pPr algn="ctr" indent="0" marL="0">
              <a:buNone/>
            </a:pPr>
            <a:r>
              <a:rPr lang="en-US" sz="1150" b="1" dirty="0">
                <a:solidFill>
                  <a:srgbClr val="25282B"/>
                </a:solidFill>
                <a:latin typeface="Cambria" pitchFamily="34" charset="0"/>
                <a:ea typeface="Cambria" pitchFamily="34" charset="-122"/>
                <a:cs typeface="Cambria" pitchFamily="34" charset="-120"/>
              </a:rPr>
              <a:t>Ашық қызғылт сары</a:t>
            </a:r>
            <a:endParaRPr lang="en-US" sz="1150" dirty="0"/>
          </a:p>
        </p:txBody>
      </p:sp>
      <p:sp>
        <p:nvSpPr>
          <p:cNvPr id="20" name="Text 18"/>
          <p:cNvSpPr txBox="1"/>
          <p:nvPr/>
        </p:nvSpPr>
        <p:spPr>
          <a:xfrm>
            <a:off x="6720840" y="3035808"/>
            <a:ext cx="1874520" cy="502920"/>
          </a:xfrm>
          <a:prstGeom prst="rect">
            <a:avLst/>
          </a:prstGeom>
          <a:noFill/>
          <a:ln/>
        </p:spPr>
        <p:txBody>
          <a:bodyPr wrap="square" lIns="0" tIns="0" rIns="0" bIns="0" rtlCol="0" anchor="ctr"/>
          <a:lstStyle/>
          <a:p>
            <a:pPr algn="ctr" indent="0" marL="0">
              <a:buNone/>
            </a:pPr>
            <a:r>
              <a:rPr lang="en-US" sz="900" dirty="0">
                <a:solidFill>
                  <a:srgbClr val="888D94"/>
                </a:solidFill>
                <a:latin typeface="Calibri" pitchFamily="34" charset="0"/>
                <a:ea typeface="Calibri" pitchFamily="34" charset="-122"/>
                <a:cs typeface="Calibri" pitchFamily="34" charset="-120"/>
              </a:rPr>
              <a:t>Аватар, жұмсақ акценттер</a:t>
            </a:r>
            <a:endParaRPr lang="en-US" sz="900" dirty="0"/>
          </a:p>
        </p:txBody>
      </p:sp>
      <p:sp>
        <p:nvSpPr>
          <p:cNvPr id="21" name="Text 19"/>
          <p:cNvSpPr txBox="1"/>
          <p:nvPr/>
        </p:nvSpPr>
        <p:spPr>
          <a:xfrm>
            <a:off x="548640" y="3794760"/>
            <a:ext cx="8046720" cy="640080"/>
          </a:xfrm>
          <a:prstGeom prst="rect">
            <a:avLst/>
          </a:prstGeom>
          <a:noFill/>
          <a:ln/>
        </p:spPr>
        <p:txBody>
          <a:bodyPr wrap="square" lIns="0" tIns="0" rIns="0" bIns="0" rtlCol="0" anchor="ctr"/>
          <a:lstStyle/>
          <a:p>
            <a:pPr indent="0" marL="0">
              <a:lnSpc>
                <a:spcPct val="120000"/>
              </a:lnSpc>
              <a:buNone/>
            </a:pPr>
            <a:r>
              <a:rPr lang="en-US" sz="1150" dirty="0">
                <a:solidFill>
                  <a:srgbClr val="25282B"/>
                </a:solidFill>
                <a:latin typeface="Calibri" pitchFamily="34" charset="0"/>
                <a:ea typeface="Calibri" pitchFamily="34" charset="-122"/>
                <a:cs typeface="Calibri" pitchFamily="34" charset="-120"/>
              </a:rPr>
              <a:t>Дизайн ашық фон, қою мәтін және қызғылт сары акцентке құрылған. Әрекет түстері (тауар іздеу, балама таңдау, файл тіркеу, сатып алу шарттары) де осы палитраға сай ажыратылған.</a:t>
            </a:r>
            <a:endParaRPr lang="en-US" sz="1150" dirty="0"/>
          </a:p>
        </p:txBody>
      </p:sp>
      <p:sp>
        <p:nvSpPr>
          <p:cNvPr id="22" name="Text 20"/>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B"/>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200" kern="0" dirty="0">
                <a:solidFill>
                  <a:srgbClr val="E66D36"/>
                </a:solidFill>
                <a:latin typeface="Calibri" pitchFamily="34" charset="0"/>
                <a:ea typeface="Calibri" pitchFamily="34" charset="-122"/>
                <a:cs typeface="Calibri" pitchFamily="34" charset="-120"/>
              </a:rPr>
              <a:t>HTML/CSS</a:t>
            </a:r>
            <a:endParaRPr lang="en-US" sz="1100" dirty="0"/>
          </a:p>
        </p:txBody>
      </p:sp>
      <p:sp>
        <p:nvSpPr>
          <p:cNvPr id="3" name="Text 1"/>
          <p:cNvSpPr txBox="1"/>
          <p:nvPr/>
        </p:nvSpPr>
        <p:spPr>
          <a:xfrm>
            <a:off x="548640" y="658368"/>
            <a:ext cx="8046720" cy="594360"/>
          </a:xfrm>
          <a:prstGeom prst="rect">
            <a:avLst/>
          </a:prstGeom>
          <a:noFill/>
          <a:ln/>
        </p:spPr>
        <p:txBody>
          <a:bodyPr wrap="square" lIns="0" tIns="0" rIns="0" bIns="0" rtlCol="0" anchor="ctr"/>
          <a:lstStyle/>
          <a:p>
            <a:pPr indent="0" marL="0">
              <a:buNone/>
            </a:pPr>
            <a:r>
              <a:rPr lang="en-US" sz="2600" b="1" dirty="0">
                <a:solidFill>
                  <a:srgbClr val="25282B"/>
                </a:solidFill>
                <a:latin typeface="Cambria" pitchFamily="34" charset="0"/>
                <a:ea typeface="Cambria" pitchFamily="34" charset="-122"/>
                <a:cs typeface="Cambria" pitchFamily="34" charset="-120"/>
              </a:rPr>
              <a:t>Интерфейс құрылымы және адаптивтілік</a:t>
            </a:r>
            <a:endParaRPr lang="en-US" sz="2600" dirty="0"/>
          </a:p>
        </p:txBody>
      </p:sp>
      <p:sp>
        <p:nvSpPr>
          <p:cNvPr id="4" name="Shape 2"/>
          <p:cNvSpPr/>
          <p:nvPr/>
        </p:nvSpPr>
        <p:spPr>
          <a:xfrm>
            <a:off x="548640" y="1298448"/>
            <a:ext cx="8046720" cy="10973"/>
          </a:xfrm>
          <a:prstGeom prst="rect">
            <a:avLst/>
          </a:prstGeom>
          <a:solidFill>
            <a:srgbClr val="E8E9EB"/>
          </a:solidFill>
          <a:ln/>
        </p:spPr>
      </p:sp>
      <p:sp>
        <p:nvSpPr>
          <p:cNvPr id="5" name="Shape 3"/>
          <p:cNvSpPr/>
          <p:nvPr/>
        </p:nvSpPr>
        <p:spPr>
          <a:xfrm>
            <a:off x="548640" y="1600200"/>
            <a:ext cx="3886200" cy="822960"/>
          </a:xfrm>
          <a:prstGeom prst="roundRect">
            <a:avLst>
              <a:gd name="adj" fmla="val 7778"/>
            </a:avLst>
          </a:prstGeom>
          <a:solidFill>
            <a:srgbClr val="FFFFFF"/>
          </a:solidFill>
          <a:ln w="12700">
            <a:solidFill>
              <a:srgbClr val="E8E9EB"/>
            </a:solidFill>
            <a:prstDash val="solid"/>
          </a:ln>
        </p:spPr>
      </p:sp>
      <p:sp>
        <p:nvSpPr>
          <p:cNvPr id="6" name="Text 4"/>
          <p:cNvSpPr txBox="1"/>
          <p:nvPr/>
        </p:nvSpPr>
        <p:spPr>
          <a:xfrm>
            <a:off x="731520" y="1673352"/>
            <a:ext cx="3520440" cy="292608"/>
          </a:xfrm>
          <a:prstGeom prst="rect">
            <a:avLst/>
          </a:prstGeom>
          <a:noFill/>
          <a:ln/>
        </p:spPr>
        <p:txBody>
          <a:bodyPr wrap="square" lIns="0" tIns="0" rIns="0" bIns="0" rtlCol="0" anchor="ctr"/>
          <a:lstStyle/>
          <a:p>
            <a:pPr indent="0" marL="0">
              <a:buNone/>
            </a:pPr>
            <a:r>
              <a:rPr lang="en-US" sz="1100" b="1" dirty="0">
                <a:solidFill>
                  <a:srgbClr val="D55E29"/>
                </a:solidFill>
                <a:latin typeface="Courier New" pitchFamily="34" charset="0"/>
                <a:ea typeface="Courier New" pitchFamily="34" charset="-122"/>
                <a:cs typeface="Courier New" pitchFamily="34" charset="-120"/>
              </a:rPr>
              <a:t>sidebar / topbar</a:t>
            </a:r>
            <a:endParaRPr lang="en-US" sz="1100" dirty="0"/>
          </a:p>
        </p:txBody>
      </p:sp>
      <p:sp>
        <p:nvSpPr>
          <p:cNvPr id="7" name="Text 5"/>
          <p:cNvSpPr txBox="1"/>
          <p:nvPr/>
        </p:nvSpPr>
        <p:spPr>
          <a:xfrm>
            <a:off x="731520" y="1984248"/>
            <a:ext cx="3520440" cy="384048"/>
          </a:xfrm>
          <a:prstGeom prst="rect">
            <a:avLst/>
          </a:prstGeom>
          <a:noFill/>
          <a:ln/>
        </p:spPr>
        <p:txBody>
          <a:bodyPr wrap="square" lIns="0" tIns="0" rIns="0" bIns="0" rtlCol="0" anchor="ctr"/>
          <a:lstStyle/>
          <a:p>
            <a:pPr indent="0" marL="0">
              <a:buNone/>
            </a:pPr>
            <a:r>
              <a:rPr lang="en-US" sz="950" dirty="0">
                <a:solidFill>
                  <a:srgbClr val="888D94"/>
                </a:solidFill>
                <a:latin typeface="Calibri" pitchFamily="34" charset="0"/>
                <a:ea typeface="Calibri" pitchFamily="34" charset="-122"/>
                <a:cs typeface="Calibri" pitchFamily="34" charset="-120"/>
              </a:rPr>
              <a:t>Бүйірлік навигация және тіл мен себет батырмасы бар жоғарғы панель</a:t>
            </a:r>
            <a:endParaRPr lang="en-US" sz="950" dirty="0"/>
          </a:p>
        </p:txBody>
      </p:sp>
      <p:sp>
        <p:nvSpPr>
          <p:cNvPr id="8" name="Shape 6"/>
          <p:cNvSpPr/>
          <p:nvPr/>
        </p:nvSpPr>
        <p:spPr>
          <a:xfrm>
            <a:off x="4709160" y="1600200"/>
            <a:ext cx="3886200" cy="822960"/>
          </a:xfrm>
          <a:prstGeom prst="roundRect">
            <a:avLst>
              <a:gd name="adj" fmla="val 7778"/>
            </a:avLst>
          </a:prstGeom>
          <a:solidFill>
            <a:srgbClr val="FFFFFF"/>
          </a:solidFill>
          <a:ln w="12700">
            <a:solidFill>
              <a:srgbClr val="E8E9EB"/>
            </a:solidFill>
            <a:prstDash val="solid"/>
          </a:ln>
        </p:spPr>
      </p:sp>
      <p:sp>
        <p:nvSpPr>
          <p:cNvPr id="9" name="Text 7"/>
          <p:cNvSpPr txBox="1"/>
          <p:nvPr/>
        </p:nvSpPr>
        <p:spPr>
          <a:xfrm>
            <a:off x="4892040" y="1673352"/>
            <a:ext cx="3520440" cy="292608"/>
          </a:xfrm>
          <a:prstGeom prst="rect">
            <a:avLst/>
          </a:prstGeom>
          <a:noFill/>
          <a:ln/>
        </p:spPr>
        <p:txBody>
          <a:bodyPr wrap="square" lIns="0" tIns="0" rIns="0" bIns="0" rtlCol="0" anchor="ctr"/>
          <a:lstStyle/>
          <a:p>
            <a:pPr indent="0" marL="0">
              <a:buNone/>
            </a:pPr>
            <a:r>
              <a:rPr lang="en-US" sz="1100" b="1" dirty="0">
                <a:solidFill>
                  <a:srgbClr val="D55E29"/>
                </a:solidFill>
                <a:latin typeface="Courier New" pitchFamily="34" charset="0"/>
                <a:ea typeface="Courier New" pitchFamily="34" charset="-122"/>
                <a:cs typeface="Courier New" pitchFamily="34" charset="-120"/>
              </a:rPr>
              <a:t>conversation / catalog-view</a:t>
            </a:r>
            <a:endParaRPr lang="en-US" sz="1100" dirty="0"/>
          </a:p>
        </p:txBody>
      </p:sp>
      <p:sp>
        <p:nvSpPr>
          <p:cNvPr id="10" name="Text 8"/>
          <p:cNvSpPr txBox="1"/>
          <p:nvPr/>
        </p:nvSpPr>
        <p:spPr>
          <a:xfrm>
            <a:off x="4892040" y="1984248"/>
            <a:ext cx="3520440" cy="384048"/>
          </a:xfrm>
          <a:prstGeom prst="rect">
            <a:avLst/>
          </a:prstGeom>
          <a:noFill/>
          <a:ln/>
        </p:spPr>
        <p:txBody>
          <a:bodyPr wrap="square" lIns="0" tIns="0" rIns="0" bIns="0" rtlCol="0" anchor="ctr"/>
          <a:lstStyle/>
          <a:p>
            <a:pPr indent="0" marL="0">
              <a:buNone/>
            </a:pPr>
            <a:r>
              <a:rPr lang="en-US" sz="950" dirty="0">
                <a:solidFill>
                  <a:srgbClr val="888D94"/>
                </a:solidFill>
                <a:latin typeface="Calibri" pitchFamily="34" charset="0"/>
                <a:ea typeface="Calibri" pitchFamily="34" charset="-122"/>
                <a:cs typeface="Calibri" pitchFamily="34" charset="-120"/>
              </a:rPr>
              <a:t>Диалог аймағы және тауар каталогы</a:t>
            </a:r>
            <a:endParaRPr lang="en-US" sz="950" dirty="0"/>
          </a:p>
        </p:txBody>
      </p:sp>
      <p:sp>
        <p:nvSpPr>
          <p:cNvPr id="11" name="Shape 9"/>
          <p:cNvSpPr/>
          <p:nvPr/>
        </p:nvSpPr>
        <p:spPr>
          <a:xfrm>
            <a:off x="548640" y="2560320"/>
            <a:ext cx="3886200" cy="822960"/>
          </a:xfrm>
          <a:prstGeom prst="roundRect">
            <a:avLst>
              <a:gd name="adj" fmla="val 7778"/>
            </a:avLst>
          </a:prstGeom>
          <a:solidFill>
            <a:srgbClr val="FFFFFF"/>
          </a:solidFill>
          <a:ln w="12700">
            <a:solidFill>
              <a:srgbClr val="E8E9EB"/>
            </a:solidFill>
            <a:prstDash val="solid"/>
          </a:ln>
        </p:spPr>
      </p:sp>
      <p:sp>
        <p:nvSpPr>
          <p:cNvPr id="12" name="Text 10"/>
          <p:cNvSpPr txBox="1"/>
          <p:nvPr/>
        </p:nvSpPr>
        <p:spPr>
          <a:xfrm>
            <a:off x="731520" y="2633472"/>
            <a:ext cx="3520440" cy="292608"/>
          </a:xfrm>
          <a:prstGeom prst="rect">
            <a:avLst/>
          </a:prstGeom>
          <a:noFill/>
          <a:ln/>
        </p:spPr>
        <p:txBody>
          <a:bodyPr wrap="square" lIns="0" tIns="0" rIns="0" bIns="0" rtlCol="0" anchor="ctr"/>
          <a:lstStyle/>
          <a:p>
            <a:pPr indent="0" marL="0">
              <a:buNone/>
            </a:pPr>
            <a:r>
              <a:rPr lang="en-US" sz="1100" b="1" dirty="0">
                <a:solidFill>
                  <a:srgbClr val="D55E29"/>
                </a:solidFill>
                <a:latin typeface="Courier New" pitchFamily="34" charset="0"/>
                <a:ea typeface="Courier New" pitchFamily="34" charset="-122"/>
                <a:cs typeface="Courier New" pitchFamily="34" charset="-120"/>
              </a:rPr>
              <a:t>chat-form</a:t>
            </a:r>
            <a:endParaRPr lang="en-US" sz="1100" dirty="0"/>
          </a:p>
        </p:txBody>
      </p:sp>
      <p:sp>
        <p:nvSpPr>
          <p:cNvPr id="13" name="Text 11"/>
          <p:cNvSpPr txBox="1"/>
          <p:nvPr/>
        </p:nvSpPr>
        <p:spPr>
          <a:xfrm>
            <a:off x="731520" y="2944368"/>
            <a:ext cx="3520440" cy="384048"/>
          </a:xfrm>
          <a:prstGeom prst="rect">
            <a:avLst/>
          </a:prstGeom>
          <a:noFill/>
          <a:ln/>
        </p:spPr>
        <p:txBody>
          <a:bodyPr wrap="square" lIns="0" tIns="0" rIns="0" bIns="0" rtlCol="0" anchor="ctr"/>
          <a:lstStyle/>
          <a:p>
            <a:pPr indent="0" marL="0">
              <a:buNone/>
            </a:pPr>
            <a:r>
              <a:rPr lang="en-US" sz="950" dirty="0">
                <a:solidFill>
                  <a:srgbClr val="888D94"/>
                </a:solidFill>
                <a:latin typeface="Calibri" pitchFamily="34" charset="0"/>
                <a:ea typeface="Calibri" pitchFamily="34" charset="-122"/>
                <a:cs typeface="Calibri" pitchFamily="34" charset="-120"/>
              </a:rPr>
              <a:t>Пайдаланушының мәтін енгізу формасы</a:t>
            </a:r>
            <a:endParaRPr lang="en-US" sz="950" dirty="0"/>
          </a:p>
        </p:txBody>
      </p:sp>
      <p:sp>
        <p:nvSpPr>
          <p:cNvPr id="14" name="Shape 12"/>
          <p:cNvSpPr/>
          <p:nvPr/>
        </p:nvSpPr>
        <p:spPr>
          <a:xfrm>
            <a:off x="4709160" y="2560320"/>
            <a:ext cx="3886200" cy="822960"/>
          </a:xfrm>
          <a:prstGeom prst="roundRect">
            <a:avLst>
              <a:gd name="adj" fmla="val 7778"/>
            </a:avLst>
          </a:prstGeom>
          <a:solidFill>
            <a:srgbClr val="FFFFFF"/>
          </a:solidFill>
          <a:ln w="12700">
            <a:solidFill>
              <a:srgbClr val="E8E9EB"/>
            </a:solidFill>
            <a:prstDash val="solid"/>
          </a:ln>
        </p:spPr>
      </p:sp>
      <p:sp>
        <p:nvSpPr>
          <p:cNvPr id="15" name="Text 13"/>
          <p:cNvSpPr txBox="1"/>
          <p:nvPr/>
        </p:nvSpPr>
        <p:spPr>
          <a:xfrm>
            <a:off x="4892040" y="2633472"/>
            <a:ext cx="3520440" cy="292608"/>
          </a:xfrm>
          <a:prstGeom prst="rect">
            <a:avLst/>
          </a:prstGeom>
          <a:noFill/>
          <a:ln/>
        </p:spPr>
        <p:txBody>
          <a:bodyPr wrap="square" lIns="0" tIns="0" rIns="0" bIns="0" rtlCol="0" anchor="ctr"/>
          <a:lstStyle/>
          <a:p>
            <a:pPr indent="0" marL="0">
              <a:buNone/>
            </a:pPr>
            <a:r>
              <a:rPr lang="en-US" sz="1100" b="1" dirty="0">
                <a:solidFill>
                  <a:srgbClr val="D55E29"/>
                </a:solidFill>
                <a:latin typeface="Courier New" pitchFamily="34" charset="0"/>
                <a:ea typeface="Courier New" pitchFamily="34" charset="-122"/>
                <a:cs typeface="Courier New" pitchFamily="34" charset="-120"/>
              </a:rPr>
              <a:t>product-dialog / cart-dialog</a:t>
            </a:r>
            <a:endParaRPr lang="en-US" sz="1100" dirty="0"/>
          </a:p>
        </p:txBody>
      </p:sp>
      <p:sp>
        <p:nvSpPr>
          <p:cNvPr id="16" name="Text 14"/>
          <p:cNvSpPr txBox="1"/>
          <p:nvPr/>
        </p:nvSpPr>
        <p:spPr>
          <a:xfrm>
            <a:off x="4892040" y="2944368"/>
            <a:ext cx="3520440" cy="384048"/>
          </a:xfrm>
          <a:prstGeom prst="rect">
            <a:avLst/>
          </a:prstGeom>
          <a:noFill/>
          <a:ln/>
        </p:spPr>
        <p:txBody>
          <a:bodyPr wrap="square" lIns="0" tIns="0" rIns="0" bIns="0" rtlCol="0" anchor="ctr"/>
          <a:lstStyle/>
          <a:p>
            <a:pPr indent="0" marL="0">
              <a:buNone/>
            </a:pPr>
            <a:r>
              <a:rPr lang="en-US" sz="950" dirty="0">
                <a:solidFill>
                  <a:srgbClr val="888D94"/>
                </a:solidFill>
                <a:latin typeface="Calibri" pitchFamily="34" charset="0"/>
                <a:ea typeface="Calibri" pitchFamily="34" charset="-122"/>
                <a:cs typeface="Calibri" pitchFamily="34" charset="-120"/>
              </a:rPr>
              <a:t>Тауар және себет туралы ақпаратты бөлек терезеде көрсету</a:t>
            </a:r>
            <a:endParaRPr lang="en-US" sz="950" dirty="0"/>
          </a:p>
        </p:txBody>
      </p:sp>
      <p:sp>
        <p:nvSpPr>
          <p:cNvPr id="17" name="Shape 15"/>
          <p:cNvSpPr/>
          <p:nvPr/>
        </p:nvSpPr>
        <p:spPr>
          <a:xfrm>
            <a:off x="548640" y="3657600"/>
            <a:ext cx="8046720" cy="822960"/>
          </a:xfrm>
          <a:prstGeom prst="roundRect">
            <a:avLst>
              <a:gd name="adj" fmla="val 6667"/>
            </a:avLst>
          </a:prstGeom>
          <a:solidFill>
            <a:srgbClr val="25282B"/>
          </a:solidFill>
          <a:ln/>
        </p:spPr>
      </p:sp>
      <p:sp>
        <p:nvSpPr>
          <p:cNvPr id="18" name="Text 16"/>
          <p:cNvSpPr txBox="1"/>
          <p:nvPr/>
        </p:nvSpPr>
        <p:spPr>
          <a:xfrm>
            <a:off x="777240" y="3657600"/>
            <a:ext cx="7589520" cy="822960"/>
          </a:xfrm>
          <a:prstGeom prst="rect">
            <a:avLst/>
          </a:prstGeom>
          <a:noFill/>
          <a:ln/>
        </p:spPr>
        <p:txBody>
          <a:bodyPr wrap="square" lIns="0" tIns="0" rIns="0" bIns="0" rtlCol="0" anchor="ctr"/>
          <a:lstStyle/>
          <a:p>
            <a:pPr indent="0" marL="0">
              <a:lnSpc>
                <a:spcPct val="115000"/>
              </a:lnSpc>
              <a:buNone/>
            </a:pPr>
            <a:r>
              <a:rPr lang="en-US" sz="1050" b="1" dirty="0">
                <a:solidFill>
                  <a:srgbClr val="E66D36"/>
                </a:solidFill>
                <a:latin typeface="Calibri" pitchFamily="34" charset="0"/>
                <a:ea typeface="Calibri" pitchFamily="34" charset="-122"/>
                <a:cs typeface="Calibri" pitchFamily="34" charset="-120"/>
              </a:rPr>
              <a:t>Мобильді көрініс:  </a:t>
            </a:r>
            <a:pPr indent="0" marL="0">
              <a:lnSpc>
                <a:spcPct val="115000"/>
              </a:lnSpc>
              <a:buNone/>
            </a:pPr>
            <a:r>
              <a:rPr lang="en-US" sz="1050" dirty="0">
                <a:solidFill>
                  <a:srgbClr val="CFD3D8"/>
                </a:solidFill>
                <a:latin typeface="Calibri" pitchFamily="34" charset="0"/>
                <a:ea typeface="Calibri" pitchFamily="34" charset="-122"/>
                <a:cs typeface="Calibri" pitchFamily="34" charset="-120"/>
              </a:rPr>
              <a:t>экран ені 700px немесе одан аз болғанда бүйір панельге бөлінген ен нөлге түседі. Әрекет карточкалары CSS Grid арқылы екі бағанға (1fr 1fr) орналасады, негізгі қаріп — Inter / Segoe UI, 14px.</a:t>
            </a:r>
            <a:endParaRPr lang="en-US" sz="1050" dirty="0"/>
          </a:p>
        </p:txBody>
      </p:sp>
      <p:sp>
        <p:nvSpPr>
          <p:cNvPr id="19" name="Text 17"/>
          <p:cNvSpPr txBox="1"/>
          <p:nvPr/>
        </p:nvSpPr>
        <p:spPr>
          <a:xfrm>
            <a:off x="8412480" y="4732020"/>
            <a:ext cx="548640" cy="274320"/>
          </a:xfrm>
          <a:prstGeom prst="rect">
            <a:avLst/>
          </a:prstGeom>
          <a:noFill/>
          <a:ln/>
        </p:spPr>
        <p:txBody>
          <a:bodyPr wrap="square" lIns="0" tIns="0" rIns="0" bIns="0" rtlCol="0" anchor="ctr"/>
          <a:lstStyle/>
          <a:p>
            <a:pPr algn="r" indent="0" marL="0">
              <a:buNone/>
            </a:pPr>
            <a:r>
              <a:rPr lang="en-US" sz="1000" dirty="0">
                <a:solidFill>
                  <a:srgbClr val="888D9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5282B"/>
        </a:solidFill>
      </p:bgPr>
    </p:bg>
    <p:spTree>
      <p:nvGrpSpPr>
        <p:cNvPr id="1" name=""/>
        <p:cNvGrpSpPr/>
        <p:nvPr/>
      </p:nvGrpSpPr>
      <p:grpSpPr>
        <a:xfrm>
          <a:off x="0" y="0"/>
          <a:ext cx="0" cy="0"/>
          <a:chOff x="0" y="0"/>
          <a:chExt cx="0" cy="0"/>
        </a:xfrm>
      </p:grpSpPr>
      <p:sp>
        <p:nvSpPr>
          <p:cNvPr id="2" name="Shape 0"/>
          <p:cNvSpPr/>
          <p:nvPr/>
        </p:nvSpPr>
        <p:spPr>
          <a:xfrm>
            <a:off x="-1463040" y="-1463040"/>
            <a:ext cx="3657600" cy="3657600"/>
          </a:xfrm>
          <a:prstGeom prst="ellipse">
            <a:avLst/>
          </a:prstGeom>
          <a:solidFill>
            <a:srgbClr val="E66D36">
              <a:alpha val="12000"/>
            </a:srgbClr>
          </a:solidFill>
          <a:ln/>
        </p:spPr>
      </p:sp>
      <p:sp>
        <p:nvSpPr>
          <p:cNvPr id="3" name="Text 1"/>
          <p:cNvSpPr txBox="1"/>
          <p:nvPr/>
        </p:nvSpPr>
        <p:spPr>
          <a:xfrm>
            <a:off x="822960" y="822960"/>
            <a:ext cx="7315200" cy="320040"/>
          </a:xfrm>
          <a:prstGeom prst="rect">
            <a:avLst/>
          </a:prstGeom>
          <a:noFill/>
          <a:ln/>
        </p:spPr>
        <p:txBody>
          <a:bodyPr wrap="square" lIns="0" tIns="0" rIns="0" bIns="0" rtlCol="0" anchor="ctr"/>
          <a:lstStyle/>
          <a:p>
            <a:pPr indent="0" marL="0">
              <a:buNone/>
            </a:pPr>
            <a:r>
              <a:rPr lang="en-US" sz="1200" b="1" spc="300" kern="0" dirty="0">
                <a:solidFill>
                  <a:srgbClr val="E66D36"/>
                </a:solidFill>
                <a:latin typeface="Calibri" pitchFamily="34" charset="0"/>
                <a:ea typeface="Calibri" pitchFamily="34" charset="-122"/>
                <a:cs typeface="Calibri" pitchFamily="34" charset="-120"/>
              </a:rPr>
              <a:t>ҚОРЫТЫНДЫ</a:t>
            </a:r>
            <a:endParaRPr lang="en-US" sz="1200" dirty="0"/>
          </a:p>
        </p:txBody>
      </p:sp>
      <p:sp>
        <p:nvSpPr>
          <p:cNvPr id="4" name="Text 2"/>
          <p:cNvSpPr txBox="1"/>
          <p:nvPr/>
        </p:nvSpPr>
        <p:spPr>
          <a:xfrm>
            <a:off x="822960" y="1143000"/>
            <a:ext cx="7498080" cy="8229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Тауар таңдауды жеңілдететін, ашық әрі көп тілді көмекші</a:t>
            </a:r>
            <a:endParaRPr lang="en-US" sz="2700" dirty="0"/>
          </a:p>
        </p:txBody>
      </p:sp>
      <p:sp>
        <p:nvSpPr>
          <p:cNvPr id="5" name="Text 3"/>
          <p:cNvSpPr txBox="1"/>
          <p:nvPr/>
        </p:nvSpPr>
        <p:spPr>
          <a:xfrm>
            <a:off x="822960" y="2148840"/>
            <a:ext cx="7498080" cy="1005840"/>
          </a:xfrm>
          <a:prstGeom prst="rect">
            <a:avLst/>
          </a:prstGeom>
          <a:noFill/>
          <a:ln/>
        </p:spPr>
        <p:txBody>
          <a:bodyPr wrap="square" lIns="0" tIns="0" rIns="0" bIns="0" rtlCol="0" anchor="ctr"/>
          <a:lstStyle/>
          <a:p>
            <a:pPr indent="0" marL="0">
              <a:lnSpc>
                <a:spcPct val="125000"/>
              </a:lnSpc>
              <a:buNone/>
            </a:pPr>
            <a:r>
              <a:rPr lang="en-US" sz="1350" dirty="0">
                <a:solidFill>
                  <a:srgbClr val="CFD3D8"/>
                </a:solidFill>
                <a:latin typeface="Calibri" pitchFamily="34" charset="0"/>
                <a:ea typeface="Calibri" pitchFamily="34" charset="-122"/>
                <a:cs typeface="Calibri" pitchFamily="34" charset="-120"/>
              </a:rPr>
              <a:t>EKT Assistant жобасында пайдаланушы сұрауы тауар деректерімен байланыстырылған: JavaScript балама сұрауын тануға, жауап құрастыруға, тілді таңдауға және санды тексеруге жауап береді, ал HTML пен CSS чат, каталог және себет интерфейсін қалыптастырады.</a:t>
            </a:r>
            <a:endParaRPr lang="en-US" sz="1350" dirty="0"/>
          </a:p>
        </p:txBody>
      </p:sp>
      <p:sp>
        <p:nvSpPr>
          <p:cNvPr id="6" name="Shape 4"/>
          <p:cNvSpPr/>
          <p:nvPr/>
        </p:nvSpPr>
        <p:spPr>
          <a:xfrm>
            <a:off x="822960" y="3337560"/>
            <a:ext cx="7498080" cy="10973"/>
          </a:xfrm>
          <a:prstGeom prst="rect">
            <a:avLst/>
          </a:prstGeom>
          <a:solidFill>
            <a:srgbClr val="3A3E42"/>
          </a:solidFill>
          <a:ln/>
        </p:spPr>
      </p:sp>
      <p:sp>
        <p:nvSpPr>
          <p:cNvPr id="7" name="Shape 5"/>
          <p:cNvSpPr/>
          <p:nvPr/>
        </p:nvSpPr>
        <p:spPr>
          <a:xfrm>
            <a:off x="822960" y="3621024"/>
            <a:ext cx="91440" cy="91440"/>
          </a:xfrm>
          <a:prstGeom prst="ellipse">
            <a:avLst/>
          </a:prstGeom>
          <a:solidFill>
            <a:srgbClr val="E66D36"/>
          </a:solidFill>
          <a:ln/>
        </p:spPr>
      </p:sp>
      <p:sp>
        <p:nvSpPr>
          <p:cNvPr id="8" name="Text 6"/>
          <p:cNvSpPr txBox="1"/>
          <p:nvPr/>
        </p:nvSpPr>
        <p:spPr>
          <a:xfrm>
            <a:off x="1051560" y="3493008"/>
            <a:ext cx="7223760" cy="320040"/>
          </a:xfrm>
          <a:prstGeom prst="rect">
            <a:avLst/>
          </a:prstGeom>
          <a:noFill/>
          <a:ln/>
        </p:spPr>
        <p:txBody>
          <a:bodyPr wrap="square" lIns="0" tIns="0" rIns="0" bIns="0" rtlCol="0" anchor="ctr"/>
          <a:lstStyle/>
          <a:p>
            <a:pPr indent="0" marL="0">
              <a:buNone/>
            </a:pPr>
            <a:r>
              <a:rPr lang="en-US" sz="1150" dirty="0">
                <a:solidFill>
                  <a:srgbClr val="CFD3D8"/>
                </a:solidFill>
                <a:latin typeface="Calibri" pitchFamily="34" charset="0"/>
                <a:ea typeface="Calibri" pitchFamily="34" charset="-122"/>
                <a:cs typeface="Calibri" pitchFamily="34" charset="-120"/>
              </a:rPr>
              <a:t>Толық deploy-версияда тексерілуі тиіс регулярлық өрнектер</a:t>
            </a:r>
            <a:endParaRPr lang="en-US" sz="1150" dirty="0"/>
          </a:p>
        </p:txBody>
      </p:sp>
      <p:sp>
        <p:nvSpPr>
          <p:cNvPr id="9" name="Shape 7"/>
          <p:cNvSpPr/>
          <p:nvPr/>
        </p:nvSpPr>
        <p:spPr>
          <a:xfrm>
            <a:off x="822960" y="4005072"/>
            <a:ext cx="91440" cy="91440"/>
          </a:xfrm>
          <a:prstGeom prst="ellipse">
            <a:avLst/>
          </a:prstGeom>
          <a:solidFill>
            <a:srgbClr val="E66D36"/>
          </a:solidFill>
          <a:ln/>
        </p:spPr>
      </p:sp>
      <p:sp>
        <p:nvSpPr>
          <p:cNvPr id="10" name="Text 8"/>
          <p:cNvSpPr txBox="1"/>
          <p:nvPr/>
        </p:nvSpPr>
        <p:spPr>
          <a:xfrm>
            <a:off x="1051560" y="3877056"/>
            <a:ext cx="7223760" cy="320040"/>
          </a:xfrm>
          <a:prstGeom prst="rect">
            <a:avLst/>
          </a:prstGeom>
          <a:noFill/>
          <a:ln/>
        </p:spPr>
        <p:txBody>
          <a:bodyPr wrap="square" lIns="0" tIns="0" rIns="0" bIns="0" rtlCol="0" anchor="ctr"/>
          <a:lstStyle/>
          <a:p>
            <a:pPr indent="0" marL="0">
              <a:buNone/>
            </a:pPr>
            <a:r>
              <a:rPr lang="en-US" sz="1150" dirty="0">
                <a:solidFill>
                  <a:srgbClr val="CFD3D8"/>
                </a:solidFill>
                <a:latin typeface="Calibri" pitchFamily="34" charset="0"/>
                <a:ea typeface="Calibri" pitchFamily="34" charset="-122"/>
                <a:cs typeface="Calibri" pitchFamily="34" charset="-120"/>
              </a:rPr>
              <a:t>Followup-тест арқылы жеке сан жауабын тексеру</a:t>
            </a:r>
            <a:endParaRPr lang="en-US" sz="1150" dirty="0"/>
          </a:p>
        </p:txBody>
      </p:sp>
      <p:sp>
        <p:nvSpPr>
          <p:cNvPr id="11" name="Shape 9"/>
          <p:cNvSpPr/>
          <p:nvPr/>
        </p:nvSpPr>
        <p:spPr>
          <a:xfrm>
            <a:off x="822960" y="4389120"/>
            <a:ext cx="91440" cy="91440"/>
          </a:xfrm>
          <a:prstGeom prst="ellipse">
            <a:avLst/>
          </a:prstGeom>
          <a:solidFill>
            <a:srgbClr val="E66D36"/>
          </a:solidFill>
          <a:ln/>
        </p:spPr>
      </p:sp>
      <p:sp>
        <p:nvSpPr>
          <p:cNvPr id="12" name="Text 10"/>
          <p:cNvSpPr txBox="1"/>
          <p:nvPr/>
        </p:nvSpPr>
        <p:spPr>
          <a:xfrm>
            <a:off x="1051560" y="4261104"/>
            <a:ext cx="7223760" cy="320040"/>
          </a:xfrm>
          <a:prstGeom prst="rect">
            <a:avLst/>
          </a:prstGeom>
          <a:noFill/>
          <a:ln/>
        </p:spPr>
        <p:txBody>
          <a:bodyPr wrap="square" lIns="0" tIns="0" rIns="0" bIns="0" rtlCol="0" anchor="ctr"/>
          <a:lstStyle/>
          <a:p>
            <a:pPr indent="0" marL="0">
              <a:buNone/>
            </a:pPr>
            <a:r>
              <a:rPr lang="en-US" sz="1150" dirty="0">
                <a:solidFill>
                  <a:srgbClr val="CFD3D8"/>
                </a:solidFill>
                <a:latin typeface="Calibri" pitchFamily="34" charset="0"/>
                <a:ea typeface="Calibri" pitchFamily="34" charset="-122"/>
                <a:cs typeface="Calibri" pitchFamily="34" charset="-120"/>
              </a:rPr>
              <a:t>Габарит пен селективтілік бойынша қосымша салыстыру</a:t>
            </a:r>
            <a:endParaRPr lang="en-US" sz="1150" dirty="0"/>
          </a:p>
        </p:txBody>
      </p:sp>
      <p:sp>
        <p:nvSpPr>
          <p:cNvPr id="13" name="Text 11"/>
          <p:cNvSpPr txBox="1"/>
          <p:nvPr/>
        </p:nvSpPr>
        <p:spPr>
          <a:xfrm>
            <a:off x="822960" y="4709160"/>
            <a:ext cx="5486400" cy="320040"/>
          </a:xfrm>
          <a:prstGeom prst="rect">
            <a:avLst/>
          </a:prstGeom>
          <a:noFill/>
          <a:ln/>
        </p:spPr>
        <p:txBody>
          <a:bodyPr wrap="square" lIns="0" tIns="0" rIns="0" bIns="0" rtlCol="0" anchor="ctr"/>
          <a:lstStyle/>
          <a:p>
            <a:pPr indent="0" marL="0">
              <a:buNone/>
            </a:pPr>
            <a:r>
              <a:rPr lang="en-US" sz="1300" i="1" dirty="0">
                <a:solidFill>
                  <a:srgbClr val="E66D36"/>
                </a:solidFill>
                <a:latin typeface="Cambria" pitchFamily="34" charset="0"/>
                <a:ea typeface="Cambria" pitchFamily="34" charset="-122"/>
                <a:cs typeface="Cambria" pitchFamily="34" charset="-120"/>
              </a:rPr>
              <a:t>Назарларыңызға рахмет!</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2026-09-23T11:40:50Z</dcterms:created>
  <dcterms:modified xsi:type="dcterms:W3CDTF">2026-09-23T11:40:50Z</dcterms:modified>
</cp:coreProperties>
</file>